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sldIdLst>
    <p:sldId id="256" r:id="rId2"/>
    <p:sldId id="257" r:id="rId3"/>
    <p:sldId id="258" r:id="rId4"/>
    <p:sldId id="259" r:id="rId5"/>
    <p:sldId id="260" r:id="rId6"/>
    <p:sldId id="269" r:id="rId7"/>
    <p:sldId id="261" r:id="rId8"/>
    <p:sldId id="262" r:id="rId9"/>
    <p:sldId id="267" r:id="rId10"/>
    <p:sldId id="265" r:id="rId11"/>
    <p:sldId id="271" r:id="rId12"/>
    <p:sldId id="272" r:id="rId13"/>
    <p:sldId id="273" r:id="rId14"/>
    <p:sldId id="263" r:id="rId15"/>
    <p:sldId id="264" r:id="rId16"/>
    <p:sldId id="266"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81" d="100"/>
          <a:sy n="81" d="100"/>
        </p:scale>
        <p:origin x="90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image" Target="../media/image3.jpg"/><Relationship Id="rId4" Type="http://schemas.openxmlformats.org/officeDocument/2006/relationships/image" Target="../media/image6.jp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image" Target="../media/image3.jpg"/><Relationship Id="rId4" Type="http://schemas.openxmlformats.org/officeDocument/2006/relationships/image" Target="../media/image6.jp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027541-F1BF-4405-A1CD-CB00D5BB7462}" type="doc">
      <dgm:prSet loTypeId="urn:microsoft.com/office/officeart/2005/8/layout/hProcess10" loCatId="process" qsTypeId="urn:microsoft.com/office/officeart/2005/8/quickstyle/simple1" qsCatId="simple" csTypeId="urn:microsoft.com/office/officeart/2005/8/colors/accent0_2" csCatId="mainScheme" phldr="1"/>
      <dgm:spPr/>
      <dgm:t>
        <a:bodyPr/>
        <a:lstStyle/>
        <a:p>
          <a:endParaRPr lang="en-IN"/>
        </a:p>
      </dgm:t>
    </dgm:pt>
    <dgm:pt modelId="{0F8B60B8-BD99-476B-98CA-041848F4A2E1}">
      <dgm:prSet phldrT="[Text]" custT="1"/>
      <dgm:spPr/>
      <dgm:t>
        <a:bodyPr/>
        <a:lstStyle/>
        <a:p>
          <a:pPr>
            <a:lnSpc>
              <a:spcPct val="90000"/>
            </a:lnSpc>
          </a:pPr>
          <a:r>
            <a:rPr lang="en-IN" sz="1600" dirty="0">
              <a:latin typeface="Times New Roman" panose="02020603050405020304" pitchFamily="18" charset="0"/>
              <a:cs typeface="Times New Roman" panose="02020603050405020304" pitchFamily="18" charset="0"/>
            </a:rPr>
            <a:t>Sensor Setup</a:t>
          </a:r>
        </a:p>
      </dgm:t>
    </dgm:pt>
    <dgm:pt modelId="{BEB3DD67-AE17-48A7-88A2-54BFDF1B5C8E}" type="parTrans" cxnId="{7C7F97C4-E6C0-42CB-A9CA-A005D32ADA1F}">
      <dgm:prSet/>
      <dgm:spPr/>
      <dgm:t>
        <a:bodyPr/>
        <a:lstStyle/>
        <a:p>
          <a:endParaRPr lang="en-IN"/>
        </a:p>
      </dgm:t>
    </dgm:pt>
    <dgm:pt modelId="{579D7BE4-1981-4443-B9D0-EAB8422A1A60}" type="sibTrans" cxnId="{7C7F97C4-E6C0-42CB-A9CA-A005D32ADA1F}">
      <dgm:prSet/>
      <dgm:spPr/>
      <dgm:t>
        <a:bodyPr/>
        <a:lstStyle/>
        <a:p>
          <a:endParaRPr lang="en-IN"/>
        </a:p>
      </dgm:t>
    </dgm:pt>
    <dgm:pt modelId="{78E42B8C-F470-4573-8B22-799A372AE1FF}">
      <dgm:prSet phldrT="[Text]" custT="1"/>
      <dgm:spPr/>
      <dgm:t>
        <a:bodyPr/>
        <a:lstStyle/>
        <a:p>
          <a:r>
            <a:rPr lang="en-IN" sz="1600" dirty="0">
              <a:latin typeface="Times New Roman" panose="02020603050405020304" pitchFamily="18" charset="0"/>
              <a:cs typeface="Times New Roman" panose="02020603050405020304" pitchFamily="18" charset="0"/>
            </a:rPr>
            <a:t>Data Collection</a:t>
          </a:r>
        </a:p>
      </dgm:t>
    </dgm:pt>
    <dgm:pt modelId="{C34A1250-E4A6-4C9D-AE0C-E5FABF377C20}" type="parTrans" cxnId="{DAB4F8B5-59D9-43C4-9128-1950B02A56D5}">
      <dgm:prSet/>
      <dgm:spPr/>
      <dgm:t>
        <a:bodyPr/>
        <a:lstStyle/>
        <a:p>
          <a:endParaRPr lang="en-IN"/>
        </a:p>
      </dgm:t>
    </dgm:pt>
    <dgm:pt modelId="{70EF08CB-6F94-4463-9586-C867190927BE}" type="sibTrans" cxnId="{DAB4F8B5-59D9-43C4-9128-1950B02A56D5}">
      <dgm:prSet/>
      <dgm:spPr/>
      <dgm:t>
        <a:bodyPr/>
        <a:lstStyle/>
        <a:p>
          <a:endParaRPr lang="en-IN"/>
        </a:p>
      </dgm:t>
    </dgm:pt>
    <dgm:pt modelId="{1611D9A5-A805-47AD-81AB-47B5F25B1A09}">
      <dgm:prSet phldrT="[Text]" custT="1"/>
      <dgm:spPr/>
      <dgm:t>
        <a:bodyPr/>
        <a:lstStyle/>
        <a:p>
          <a:r>
            <a:rPr lang="en-IN" sz="1400" dirty="0">
              <a:latin typeface="Times New Roman" panose="02020603050405020304" pitchFamily="18" charset="0"/>
              <a:cs typeface="Times New Roman" panose="02020603050405020304" pitchFamily="18" charset="0"/>
            </a:rPr>
            <a:t>Simulate both “sober” and “intoxicated” conditions using realistic values.</a:t>
          </a:r>
        </a:p>
      </dgm:t>
    </dgm:pt>
    <dgm:pt modelId="{66E20F7F-86C0-431C-B755-A9F43B318409}" type="parTrans" cxnId="{E308F095-8209-4449-9F26-A66E8325CA1E}">
      <dgm:prSet/>
      <dgm:spPr/>
      <dgm:t>
        <a:bodyPr/>
        <a:lstStyle/>
        <a:p>
          <a:endParaRPr lang="en-IN"/>
        </a:p>
      </dgm:t>
    </dgm:pt>
    <dgm:pt modelId="{2EB2DF19-5A73-48D7-A9E5-BC70F594AEE8}" type="sibTrans" cxnId="{E308F095-8209-4449-9F26-A66E8325CA1E}">
      <dgm:prSet/>
      <dgm:spPr/>
      <dgm:t>
        <a:bodyPr/>
        <a:lstStyle/>
        <a:p>
          <a:endParaRPr lang="en-IN"/>
        </a:p>
      </dgm:t>
    </dgm:pt>
    <dgm:pt modelId="{B0738071-F480-444E-958A-AEB39651F3F1}">
      <dgm:prSet phldrT="[Text]" custT="1"/>
      <dgm:spPr/>
      <dgm:t>
        <a:bodyPr/>
        <a:lstStyle/>
        <a:p>
          <a:r>
            <a:rPr lang="en-IN" sz="1400" dirty="0">
              <a:latin typeface="Times New Roman" panose="02020603050405020304" pitchFamily="18" charset="0"/>
              <a:cs typeface="Times New Roman" panose="02020603050405020304" pitchFamily="18" charset="0"/>
            </a:rPr>
            <a:t>Generate a dataset containing multiple readings labelled as “Fit” or “ Unfit”.</a:t>
          </a:r>
        </a:p>
      </dgm:t>
    </dgm:pt>
    <dgm:pt modelId="{F2529FC8-1153-44CE-96FA-EDE8C2FD8A43}" type="parTrans" cxnId="{8BF1732C-E75E-40F2-B221-6CBE234035BC}">
      <dgm:prSet/>
      <dgm:spPr/>
      <dgm:t>
        <a:bodyPr/>
        <a:lstStyle/>
        <a:p>
          <a:endParaRPr lang="en-IN"/>
        </a:p>
      </dgm:t>
    </dgm:pt>
    <dgm:pt modelId="{24D6E162-9332-4EFD-99E7-75118EEDB37B}" type="sibTrans" cxnId="{8BF1732C-E75E-40F2-B221-6CBE234035BC}">
      <dgm:prSet/>
      <dgm:spPr/>
      <dgm:t>
        <a:bodyPr/>
        <a:lstStyle/>
        <a:p>
          <a:endParaRPr lang="en-IN"/>
        </a:p>
      </dgm:t>
    </dgm:pt>
    <dgm:pt modelId="{181A8116-6164-4456-A295-EBDBC517AB26}">
      <dgm:prSet phldrT="[Text]" custT="1"/>
      <dgm:spPr/>
      <dgm:t>
        <a:bodyPr/>
        <a:lstStyle/>
        <a:p>
          <a:r>
            <a:rPr lang="en-IN" sz="1600" dirty="0">
              <a:latin typeface="Times New Roman" panose="02020603050405020304" pitchFamily="18" charset="0"/>
              <a:cs typeface="Times New Roman" panose="02020603050405020304" pitchFamily="18" charset="0"/>
            </a:rPr>
            <a:t>AI Model Training</a:t>
          </a:r>
        </a:p>
      </dgm:t>
    </dgm:pt>
    <dgm:pt modelId="{9FA845A6-2ADD-426D-900B-227EC73D0520}" type="parTrans" cxnId="{49EB3F2B-DF2D-4D2F-BEF4-E8FCD287EA3D}">
      <dgm:prSet/>
      <dgm:spPr/>
      <dgm:t>
        <a:bodyPr/>
        <a:lstStyle/>
        <a:p>
          <a:endParaRPr lang="en-IN"/>
        </a:p>
      </dgm:t>
    </dgm:pt>
    <dgm:pt modelId="{63EE60A7-F644-462C-BBF6-E9E7D6716C76}" type="sibTrans" cxnId="{49EB3F2B-DF2D-4D2F-BEF4-E8FCD287EA3D}">
      <dgm:prSet/>
      <dgm:spPr/>
      <dgm:t>
        <a:bodyPr/>
        <a:lstStyle/>
        <a:p>
          <a:endParaRPr lang="en-IN"/>
        </a:p>
      </dgm:t>
    </dgm:pt>
    <dgm:pt modelId="{5635B00F-377F-4D0E-B311-B65B27C10861}">
      <dgm:prSet phldrT="[Text]" custT="1"/>
      <dgm:spPr/>
      <dgm:t>
        <a:bodyPr/>
        <a:lstStyle/>
        <a:p>
          <a:r>
            <a:rPr lang="en-IN" sz="1400" dirty="0">
              <a:latin typeface="Times New Roman" panose="02020603050405020304" pitchFamily="18" charset="0"/>
              <a:cs typeface="Times New Roman" panose="02020603050405020304" pitchFamily="18" charset="0"/>
            </a:rPr>
            <a:t>Features: Alcohol level,GSR,HR,SpO2,reaction time.</a:t>
          </a:r>
        </a:p>
      </dgm:t>
    </dgm:pt>
    <dgm:pt modelId="{1C12339B-41CA-459E-A94C-5C35F51B63E1}" type="parTrans" cxnId="{85DE6D03-EEDA-45C6-98B7-3337FEB9384A}">
      <dgm:prSet/>
      <dgm:spPr/>
      <dgm:t>
        <a:bodyPr/>
        <a:lstStyle/>
        <a:p>
          <a:endParaRPr lang="en-IN"/>
        </a:p>
      </dgm:t>
    </dgm:pt>
    <dgm:pt modelId="{86F9DA9D-E78A-41AD-A064-9EE2360E340D}" type="sibTrans" cxnId="{85DE6D03-EEDA-45C6-98B7-3337FEB9384A}">
      <dgm:prSet/>
      <dgm:spPr/>
      <dgm:t>
        <a:bodyPr/>
        <a:lstStyle/>
        <a:p>
          <a:endParaRPr lang="en-IN"/>
        </a:p>
      </dgm:t>
    </dgm:pt>
    <dgm:pt modelId="{CDFB41A4-3288-4B5E-BD3D-E0F46E36556E}">
      <dgm:prSet phldrT="[Text]" custT="1"/>
      <dgm:spPr/>
      <dgm:t>
        <a:bodyPr/>
        <a:lstStyle/>
        <a:p>
          <a:r>
            <a:rPr lang="en-IN" sz="1400" dirty="0">
              <a:latin typeface="Times New Roman" panose="02020603050405020304" pitchFamily="18" charset="0"/>
              <a:cs typeface="Times New Roman" panose="02020603050405020304" pitchFamily="18" charset="0"/>
            </a:rPr>
            <a:t>Labels: 0 (Fit), 1 (Unfit)</a:t>
          </a:r>
        </a:p>
      </dgm:t>
    </dgm:pt>
    <dgm:pt modelId="{45893801-C2A5-45CD-825B-25B205D44076}" type="parTrans" cxnId="{B6E70387-C334-467E-BFC4-744A6D344BFF}">
      <dgm:prSet/>
      <dgm:spPr/>
      <dgm:t>
        <a:bodyPr/>
        <a:lstStyle/>
        <a:p>
          <a:endParaRPr lang="en-IN"/>
        </a:p>
      </dgm:t>
    </dgm:pt>
    <dgm:pt modelId="{256C909C-0DAC-4D46-9507-6DAD69609EF3}" type="sibTrans" cxnId="{B6E70387-C334-467E-BFC4-744A6D344BFF}">
      <dgm:prSet/>
      <dgm:spPr/>
      <dgm:t>
        <a:bodyPr/>
        <a:lstStyle/>
        <a:p>
          <a:endParaRPr lang="en-IN"/>
        </a:p>
      </dgm:t>
    </dgm:pt>
    <dgm:pt modelId="{932660A3-1430-497D-803A-605DD8485105}">
      <dgm:prSet custT="1"/>
      <dgm:spPr/>
      <dgm:t>
        <a:bodyPr/>
        <a:lstStyle/>
        <a:p>
          <a:r>
            <a:rPr lang="en-IN" sz="1600" dirty="0">
              <a:latin typeface="Times New Roman" panose="02020603050405020304" pitchFamily="18" charset="0"/>
              <a:cs typeface="Times New Roman" panose="02020603050405020304" pitchFamily="18" charset="0"/>
            </a:rPr>
            <a:t>Deployment</a:t>
          </a:r>
        </a:p>
      </dgm:t>
    </dgm:pt>
    <dgm:pt modelId="{71A9A6DB-7F20-4B7C-A87F-9D9871A4AB1E}" type="parTrans" cxnId="{06558EFA-11C3-45DD-9007-30893F1DCEA8}">
      <dgm:prSet/>
      <dgm:spPr/>
      <dgm:t>
        <a:bodyPr/>
        <a:lstStyle/>
        <a:p>
          <a:endParaRPr lang="en-IN"/>
        </a:p>
      </dgm:t>
    </dgm:pt>
    <dgm:pt modelId="{9743E0F1-7759-4EE4-A2D1-A47906977DC5}" type="sibTrans" cxnId="{06558EFA-11C3-45DD-9007-30893F1DCEA8}">
      <dgm:prSet/>
      <dgm:spPr/>
      <dgm:t>
        <a:bodyPr/>
        <a:lstStyle/>
        <a:p>
          <a:endParaRPr lang="en-IN"/>
        </a:p>
      </dgm:t>
    </dgm:pt>
    <dgm:pt modelId="{798C87DF-F5F8-48F3-88AF-8A2C093B4E54}">
      <dgm:prSet phldrT="[Text]" custT="1"/>
      <dgm:spPr/>
      <dgm:t>
        <a:bodyPr/>
        <a:lstStyle/>
        <a:p>
          <a:pPr>
            <a:lnSpc>
              <a:spcPct val="100000"/>
            </a:lnSpc>
          </a:pPr>
          <a:r>
            <a:rPr lang="en-IN" sz="1400" dirty="0">
              <a:latin typeface="Times New Roman" panose="02020603050405020304" pitchFamily="18" charset="0"/>
              <a:cs typeface="Times New Roman" panose="02020603050405020304" pitchFamily="18" charset="0"/>
            </a:rPr>
            <a:t>MQ-3 to detect alcohol vapour in breath.</a:t>
          </a:r>
        </a:p>
      </dgm:t>
    </dgm:pt>
    <dgm:pt modelId="{15F99BE3-B69D-4987-B6F4-F0E5292A934A}" type="sibTrans" cxnId="{FF61FCAA-57DF-4FF7-A242-E16CEA333FC9}">
      <dgm:prSet/>
      <dgm:spPr/>
      <dgm:t>
        <a:bodyPr/>
        <a:lstStyle/>
        <a:p>
          <a:endParaRPr lang="en-IN"/>
        </a:p>
      </dgm:t>
    </dgm:pt>
    <dgm:pt modelId="{8FE2FAF3-D003-4BCC-90EC-5793FC4FA05A}" type="parTrans" cxnId="{FF61FCAA-57DF-4FF7-A242-E16CEA333FC9}">
      <dgm:prSet/>
      <dgm:spPr/>
      <dgm:t>
        <a:bodyPr/>
        <a:lstStyle/>
        <a:p>
          <a:endParaRPr lang="en-IN"/>
        </a:p>
      </dgm:t>
    </dgm:pt>
    <dgm:pt modelId="{CB5F2B77-CAF4-42EE-AB7D-C3A4BFE3E2BF}">
      <dgm:prSet phldrT="[Text]" custT="1"/>
      <dgm:spPr/>
      <dgm:t>
        <a:bodyPr/>
        <a:lstStyle/>
        <a:p>
          <a:pPr>
            <a:lnSpc>
              <a:spcPct val="90000"/>
            </a:lnSpc>
          </a:pPr>
          <a:r>
            <a:rPr lang="en-IN" sz="1400" dirty="0">
              <a:latin typeface="Times New Roman" panose="02020603050405020304" pitchFamily="18" charset="0"/>
              <a:cs typeface="Times New Roman" panose="02020603050405020304" pitchFamily="18" charset="0"/>
            </a:rPr>
            <a:t>MAX 30102 to monitor heart and SpO2.</a:t>
          </a:r>
        </a:p>
      </dgm:t>
    </dgm:pt>
    <dgm:pt modelId="{E42320B6-526C-457C-8161-8C2301105D3E}" type="sibTrans" cxnId="{7D2269CF-0565-4631-BAE6-566BF08863AE}">
      <dgm:prSet/>
      <dgm:spPr/>
      <dgm:t>
        <a:bodyPr/>
        <a:lstStyle/>
        <a:p>
          <a:endParaRPr lang="en-IN"/>
        </a:p>
      </dgm:t>
    </dgm:pt>
    <dgm:pt modelId="{D9BB18DA-CF6E-44A1-A87F-BCF25E3B9C44}" type="parTrans" cxnId="{7D2269CF-0565-4631-BAE6-566BF08863AE}">
      <dgm:prSet/>
      <dgm:spPr/>
      <dgm:t>
        <a:bodyPr/>
        <a:lstStyle/>
        <a:p>
          <a:endParaRPr lang="en-IN"/>
        </a:p>
      </dgm:t>
    </dgm:pt>
    <dgm:pt modelId="{C6CD9E47-0861-4656-B5D4-9B412113DB86}">
      <dgm:prSet phldrT="[Text]" custT="1"/>
      <dgm:spPr/>
      <dgm:t>
        <a:bodyPr/>
        <a:lstStyle/>
        <a:p>
          <a:pPr>
            <a:lnSpc>
              <a:spcPct val="90000"/>
            </a:lnSpc>
          </a:pPr>
          <a:r>
            <a:rPr lang="en-IN" sz="1400" dirty="0">
              <a:latin typeface="Times New Roman" panose="02020603050405020304" pitchFamily="18" charset="0"/>
              <a:cs typeface="Times New Roman" panose="02020603050405020304" pitchFamily="18" charset="0"/>
            </a:rPr>
            <a:t>GSR sensor to measure skin conductance.</a:t>
          </a:r>
        </a:p>
      </dgm:t>
    </dgm:pt>
    <dgm:pt modelId="{E9EA9C5E-7D66-436A-8056-BBBD87E5E93F}" type="sibTrans" cxnId="{4DA256FA-333F-4614-AA12-7F97FEE0C1BC}">
      <dgm:prSet/>
      <dgm:spPr/>
      <dgm:t>
        <a:bodyPr/>
        <a:lstStyle/>
        <a:p>
          <a:endParaRPr lang="en-IN"/>
        </a:p>
      </dgm:t>
    </dgm:pt>
    <dgm:pt modelId="{1C3BABAE-9967-44ED-BB47-711EA2F85E9C}" type="parTrans" cxnId="{4DA256FA-333F-4614-AA12-7F97FEE0C1BC}">
      <dgm:prSet/>
      <dgm:spPr/>
      <dgm:t>
        <a:bodyPr/>
        <a:lstStyle/>
        <a:p>
          <a:endParaRPr lang="en-IN"/>
        </a:p>
      </dgm:t>
    </dgm:pt>
    <dgm:pt modelId="{5F08A0ED-1975-49F4-915C-C53D322D304E}">
      <dgm:prSet phldrT="[Text]" custT="1"/>
      <dgm:spPr/>
      <dgm:t>
        <a:bodyPr/>
        <a:lstStyle/>
        <a:p>
          <a:r>
            <a:rPr lang="en-IN" sz="1400" dirty="0">
              <a:latin typeface="Times New Roman" panose="02020603050405020304" pitchFamily="18" charset="0"/>
              <a:cs typeface="Times New Roman" panose="02020603050405020304" pitchFamily="18" charset="0"/>
            </a:rPr>
            <a:t>Train using a shallow neural network.</a:t>
          </a:r>
        </a:p>
      </dgm:t>
    </dgm:pt>
    <dgm:pt modelId="{E474E222-69C8-4D19-BACC-C40CB66B795A}" type="parTrans" cxnId="{31F0C00B-DD94-4019-A024-F7F119F75DB1}">
      <dgm:prSet/>
      <dgm:spPr/>
      <dgm:t>
        <a:bodyPr/>
        <a:lstStyle/>
        <a:p>
          <a:endParaRPr lang="en-IN"/>
        </a:p>
      </dgm:t>
    </dgm:pt>
    <dgm:pt modelId="{AD352BF9-1467-4B85-9A69-4F24B25F027C}" type="sibTrans" cxnId="{31F0C00B-DD94-4019-A024-F7F119F75DB1}">
      <dgm:prSet/>
      <dgm:spPr/>
      <dgm:t>
        <a:bodyPr/>
        <a:lstStyle/>
        <a:p>
          <a:endParaRPr lang="en-IN"/>
        </a:p>
      </dgm:t>
    </dgm:pt>
    <dgm:pt modelId="{877B9CA5-2D33-4BD5-BC30-658A5244306B}">
      <dgm:prSet phldrT="[Text]" custT="1"/>
      <dgm:spPr/>
      <dgm:t>
        <a:bodyPr/>
        <a:lstStyle/>
        <a:p>
          <a:r>
            <a:rPr lang="en-IN" sz="1400" dirty="0">
              <a:latin typeface="Times New Roman" panose="02020603050405020304" pitchFamily="18" charset="0"/>
              <a:cs typeface="Times New Roman" panose="02020603050405020304" pitchFamily="18" charset="0"/>
            </a:rPr>
            <a:t>Evaluate wit accuracy, confusion matrix</a:t>
          </a:r>
        </a:p>
      </dgm:t>
    </dgm:pt>
    <dgm:pt modelId="{904D4A16-FFEB-40F6-AF60-AB94EC63ED55}" type="parTrans" cxnId="{3FEF41E0-3BB3-4E4A-89D8-1417F3272DB2}">
      <dgm:prSet/>
      <dgm:spPr/>
      <dgm:t>
        <a:bodyPr/>
        <a:lstStyle/>
        <a:p>
          <a:endParaRPr lang="en-IN"/>
        </a:p>
      </dgm:t>
    </dgm:pt>
    <dgm:pt modelId="{95992C56-BF15-4EEB-BE78-4C1BA1D8A980}" type="sibTrans" cxnId="{3FEF41E0-3BB3-4E4A-89D8-1417F3272DB2}">
      <dgm:prSet/>
      <dgm:spPr/>
      <dgm:t>
        <a:bodyPr/>
        <a:lstStyle/>
        <a:p>
          <a:endParaRPr lang="en-IN"/>
        </a:p>
      </dgm:t>
    </dgm:pt>
    <dgm:pt modelId="{3F8C2835-F4A4-40FC-AE56-20731716D11D}">
      <dgm:prSet custT="1"/>
      <dgm:spPr/>
      <dgm:t>
        <a:bodyPr/>
        <a:lstStyle/>
        <a:p>
          <a:r>
            <a:rPr lang="en-IN" sz="1400" dirty="0">
              <a:latin typeface="Times New Roman" panose="02020603050405020304" pitchFamily="18" charset="0"/>
              <a:cs typeface="Times New Roman" panose="02020603050405020304" pitchFamily="18" charset="0"/>
            </a:rPr>
            <a:t>Integrate train model into Microcontroller or Raspberry Pi</a:t>
          </a:r>
        </a:p>
      </dgm:t>
    </dgm:pt>
    <dgm:pt modelId="{09AA59F0-A75C-46BD-9915-D8D0750B113B}" type="parTrans" cxnId="{8359015E-07E3-48C0-8EE5-A4E62A81E807}">
      <dgm:prSet/>
      <dgm:spPr/>
      <dgm:t>
        <a:bodyPr/>
        <a:lstStyle/>
        <a:p>
          <a:endParaRPr lang="en-IN"/>
        </a:p>
      </dgm:t>
    </dgm:pt>
    <dgm:pt modelId="{A3286B75-8CC3-4C6E-AED4-36B90EB99939}" type="sibTrans" cxnId="{8359015E-07E3-48C0-8EE5-A4E62A81E807}">
      <dgm:prSet/>
      <dgm:spPr/>
      <dgm:t>
        <a:bodyPr/>
        <a:lstStyle/>
        <a:p>
          <a:endParaRPr lang="en-IN"/>
        </a:p>
      </dgm:t>
    </dgm:pt>
    <dgm:pt modelId="{EBD33571-E1CC-475A-BA81-30D09878F120}">
      <dgm:prSet custT="1"/>
      <dgm:spPr/>
      <dgm:t>
        <a:bodyPr/>
        <a:lstStyle/>
        <a:p>
          <a:r>
            <a:rPr lang="en-IN" sz="1400" dirty="0">
              <a:latin typeface="Times New Roman" panose="02020603050405020304" pitchFamily="18" charset="0"/>
              <a:cs typeface="Times New Roman" panose="02020603050405020304" pitchFamily="18" charset="0"/>
            </a:rPr>
            <a:t>Display results in real-time on OLED or mobile app.</a:t>
          </a:r>
        </a:p>
      </dgm:t>
    </dgm:pt>
    <dgm:pt modelId="{8321E0E6-C9DB-48A5-971C-373A5AD69F74}" type="parTrans" cxnId="{D044517F-7338-4C38-ADF7-3C04A793892E}">
      <dgm:prSet/>
      <dgm:spPr/>
      <dgm:t>
        <a:bodyPr/>
        <a:lstStyle/>
        <a:p>
          <a:endParaRPr lang="en-IN"/>
        </a:p>
      </dgm:t>
    </dgm:pt>
    <dgm:pt modelId="{018614CB-FCEF-46F7-825B-5055DAA4DF24}" type="sibTrans" cxnId="{D044517F-7338-4C38-ADF7-3C04A793892E}">
      <dgm:prSet/>
      <dgm:spPr/>
      <dgm:t>
        <a:bodyPr/>
        <a:lstStyle/>
        <a:p>
          <a:endParaRPr lang="en-IN"/>
        </a:p>
      </dgm:t>
    </dgm:pt>
    <dgm:pt modelId="{8B0D1845-3138-4385-944B-D20C7B048D46}" type="pres">
      <dgm:prSet presAssocID="{BD027541-F1BF-4405-A1CD-CB00D5BB7462}" presName="Name0" presStyleCnt="0">
        <dgm:presLayoutVars>
          <dgm:dir/>
          <dgm:resizeHandles val="exact"/>
        </dgm:presLayoutVars>
      </dgm:prSet>
      <dgm:spPr/>
    </dgm:pt>
    <dgm:pt modelId="{4C295FC9-1237-4576-B2A0-99D01576FFF5}" type="pres">
      <dgm:prSet presAssocID="{0F8B60B8-BD99-476B-98CA-041848F4A2E1}" presName="composite" presStyleCnt="0"/>
      <dgm:spPr/>
    </dgm:pt>
    <dgm:pt modelId="{7C2B9804-E077-4FD9-B332-5F805010E43E}" type="pres">
      <dgm:prSet presAssocID="{0F8B60B8-BD99-476B-98CA-041848F4A2E1}" presName="imagSh" presStyleLbl="b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9000" r="-9000"/>
          </a:stretch>
        </a:blipFill>
      </dgm:spPr>
    </dgm:pt>
    <dgm:pt modelId="{C4552642-04AE-45D9-93C6-77EB84BA0A08}" type="pres">
      <dgm:prSet presAssocID="{0F8B60B8-BD99-476B-98CA-041848F4A2E1}" presName="txNode" presStyleLbl="node1" presStyleIdx="0" presStyleCnt="4" custScaleY="128235" custLinFactNeighborX="-491" custLinFactNeighborY="10305">
        <dgm:presLayoutVars>
          <dgm:bulletEnabled val="1"/>
        </dgm:presLayoutVars>
      </dgm:prSet>
      <dgm:spPr/>
    </dgm:pt>
    <dgm:pt modelId="{35B9345B-4B80-4095-A31D-AE74E555D021}" type="pres">
      <dgm:prSet presAssocID="{579D7BE4-1981-4443-B9D0-EAB8422A1A60}" presName="sibTrans" presStyleLbl="sibTrans2D1" presStyleIdx="0" presStyleCnt="3"/>
      <dgm:spPr/>
    </dgm:pt>
    <dgm:pt modelId="{B940162B-4C79-4EFD-A912-4C76E0951EE6}" type="pres">
      <dgm:prSet presAssocID="{579D7BE4-1981-4443-B9D0-EAB8422A1A60}" presName="connTx" presStyleLbl="sibTrans2D1" presStyleIdx="0" presStyleCnt="3"/>
      <dgm:spPr/>
    </dgm:pt>
    <dgm:pt modelId="{8DDF3738-603A-410F-942B-56B84A5F2938}" type="pres">
      <dgm:prSet presAssocID="{78E42B8C-F470-4573-8B22-799A372AE1FF}" presName="composite" presStyleCnt="0"/>
      <dgm:spPr/>
    </dgm:pt>
    <dgm:pt modelId="{FB18C37B-3442-418A-B020-3BAF6CF78EFA}" type="pres">
      <dgm:prSet presAssocID="{78E42B8C-F470-4573-8B22-799A372AE1FF}" presName="imagSh" presStyleLbl="b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dgm:spPr>
    </dgm:pt>
    <dgm:pt modelId="{B2A9C56B-6DD5-4DC9-820D-08821273698B}" type="pres">
      <dgm:prSet presAssocID="{78E42B8C-F470-4573-8B22-799A372AE1FF}" presName="txNode" presStyleLbl="node1" presStyleIdx="1" presStyleCnt="4" custScaleY="119645" custLinFactNeighborX="2305" custLinFactNeighborY="10305">
        <dgm:presLayoutVars>
          <dgm:bulletEnabled val="1"/>
        </dgm:presLayoutVars>
      </dgm:prSet>
      <dgm:spPr/>
    </dgm:pt>
    <dgm:pt modelId="{B723BF8D-B94C-47EF-82F2-D8D249499C63}" type="pres">
      <dgm:prSet presAssocID="{70EF08CB-6F94-4463-9586-C867190927BE}" presName="sibTrans" presStyleLbl="sibTrans2D1" presStyleIdx="1" presStyleCnt="3"/>
      <dgm:spPr/>
    </dgm:pt>
    <dgm:pt modelId="{52F7835C-E71A-4C92-BDF4-864EDE57C98B}" type="pres">
      <dgm:prSet presAssocID="{70EF08CB-6F94-4463-9586-C867190927BE}" presName="connTx" presStyleLbl="sibTrans2D1" presStyleIdx="1" presStyleCnt="3"/>
      <dgm:spPr/>
    </dgm:pt>
    <dgm:pt modelId="{986CC338-CA69-4077-BD1E-A0AA6E395D7A}" type="pres">
      <dgm:prSet presAssocID="{181A8116-6164-4456-A295-EBDBC517AB26}" presName="composite" presStyleCnt="0"/>
      <dgm:spPr/>
    </dgm:pt>
    <dgm:pt modelId="{2C83CAF0-E8B6-42B8-8089-DA53D01E7627}" type="pres">
      <dgm:prSet presAssocID="{181A8116-6164-4456-A295-EBDBC517AB26}" presName="imagSh" presStyleLbl="b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A9312D3C-CC8C-47C1-AFA5-B0D18D0D3A0E}" type="pres">
      <dgm:prSet presAssocID="{181A8116-6164-4456-A295-EBDBC517AB26}" presName="txNode" presStyleLbl="node1" presStyleIdx="2" presStyleCnt="4" custScaleX="99171" custScaleY="125316" custLinFactNeighborX="-491" custLinFactNeighborY="20119">
        <dgm:presLayoutVars>
          <dgm:bulletEnabled val="1"/>
        </dgm:presLayoutVars>
      </dgm:prSet>
      <dgm:spPr/>
    </dgm:pt>
    <dgm:pt modelId="{DA832FDD-59EF-4D45-9345-B3C19BBEE3B4}" type="pres">
      <dgm:prSet presAssocID="{63EE60A7-F644-462C-BBF6-E9E7D6716C76}" presName="sibTrans" presStyleLbl="sibTrans2D1" presStyleIdx="2" presStyleCnt="3"/>
      <dgm:spPr/>
    </dgm:pt>
    <dgm:pt modelId="{AA65122A-5320-4837-9D44-4C8225EF9EDA}" type="pres">
      <dgm:prSet presAssocID="{63EE60A7-F644-462C-BBF6-E9E7D6716C76}" presName="connTx" presStyleLbl="sibTrans2D1" presStyleIdx="2" presStyleCnt="3"/>
      <dgm:spPr/>
    </dgm:pt>
    <dgm:pt modelId="{096E1039-7C76-4DA2-A9AD-BAFE7D8749A8}" type="pres">
      <dgm:prSet presAssocID="{932660A3-1430-497D-803A-605DD8485105}" presName="composite" presStyleCnt="0"/>
      <dgm:spPr/>
    </dgm:pt>
    <dgm:pt modelId="{49D303A3-CFFB-4BD1-8ABE-19FE133D4FCA}" type="pres">
      <dgm:prSet presAssocID="{932660A3-1430-497D-803A-605DD8485105}" presName="imagSh" presStyleLbl="b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21000" r="-21000"/>
          </a:stretch>
        </a:blipFill>
      </dgm:spPr>
    </dgm:pt>
    <dgm:pt modelId="{1A6AEF69-B245-4921-81E4-6DD51B7778A7}" type="pres">
      <dgm:prSet presAssocID="{932660A3-1430-497D-803A-605DD8485105}" presName="txNode" presStyleLbl="node1" presStyleIdx="3" presStyleCnt="4">
        <dgm:presLayoutVars>
          <dgm:bulletEnabled val="1"/>
        </dgm:presLayoutVars>
      </dgm:prSet>
      <dgm:spPr/>
    </dgm:pt>
  </dgm:ptLst>
  <dgm:cxnLst>
    <dgm:cxn modelId="{85DE6D03-EEDA-45C6-98B7-3337FEB9384A}" srcId="{181A8116-6164-4456-A295-EBDBC517AB26}" destId="{5635B00F-377F-4D0E-B311-B65B27C10861}" srcOrd="0" destOrd="0" parTransId="{1C12339B-41CA-459E-A94C-5C35F51B63E1}" sibTransId="{86F9DA9D-E78A-41AD-A064-9EE2360E340D}"/>
    <dgm:cxn modelId="{31F0C00B-DD94-4019-A024-F7F119F75DB1}" srcId="{181A8116-6164-4456-A295-EBDBC517AB26}" destId="{5F08A0ED-1975-49F4-915C-C53D322D304E}" srcOrd="2" destOrd="0" parTransId="{E474E222-69C8-4D19-BACC-C40CB66B795A}" sibTransId="{AD352BF9-1467-4B85-9A69-4F24B25F027C}"/>
    <dgm:cxn modelId="{FCB7400D-1B88-4FF2-94DC-795A9470EC74}" type="presOf" srcId="{B0738071-F480-444E-958A-AEB39651F3F1}" destId="{B2A9C56B-6DD5-4DC9-820D-08821273698B}" srcOrd="0" destOrd="2" presId="urn:microsoft.com/office/officeart/2005/8/layout/hProcess10"/>
    <dgm:cxn modelId="{0AB03511-3995-4AEF-9004-0A5499C1686C}" type="presOf" srcId="{C6CD9E47-0861-4656-B5D4-9B412113DB86}" destId="{C4552642-04AE-45D9-93C6-77EB84BA0A08}" srcOrd="0" destOrd="3" presId="urn:microsoft.com/office/officeart/2005/8/layout/hProcess10"/>
    <dgm:cxn modelId="{19144A17-EE58-4883-8609-49EAA17CA50F}" type="presOf" srcId="{932660A3-1430-497D-803A-605DD8485105}" destId="{1A6AEF69-B245-4921-81E4-6DD51B7778A7}" srcOrd="0" destOrd="0" presId="urn:microsoft.com/office/officeart/2005/8/layout/hProcess10"/>
    <dgm:cxn modelId="{C58FA628-26F6-4E61-B6FE-219BE49E73A1}" type="presOf" srcId="{5F08A0ED-1975-49F4-915C-C53D322D304E}" destId="{A9312D3C-CC8C-47C1-AFA5-B0D18D0D3A0E}" srcOrd="0" destOrd="3" presId="urn:microsoft.com/office/officeart/2005/8/layout/hProcess10"/>
    <dgm:cxn modelId="{49EB3F2B-DF2D-4D2F-BEF4-E8FCD287EA3D}" srcId="{BD027541-F1BF-4405-A1CD-CB00D5BB7462}" destId="{181A8116-6164-4456-A295-EBDBC517AB26}" srcOrd="2" destOrd="0" parTransId="{9FA845A6-2ADD-426D-900B-227EC73D0520}" sibTransId="{63EE60A7-F644-462C-BBF6-E9E7D6716C76}"/>
    <dgm:cxn modelId="{8BF1732C-E75E-40F2-B221-6CBE234035BC}" srcId="{78E42B8C-F470-4573-8B22-799A372AE1FF}" destId="{B0738071-F480-444E-958A-AEB39651F3F1}" srcOrd="1" destOrd="0" parTransId="{F2529FC8-1153-44CE-96FA-EDE8C2FD8A43}" sibTransId="{24D6E162-9332-4EFD-99E7-75118EEDB37B}"/>
    <dgm:cxn modelId="{34168237-96CF-40E4-A629-2A491EA9BB2A}" type="presOf" srcId="{5635B00F-377F-4D0E-B311-B65B27C10861}" destId="{A9312D3C-CC8C-47C1-AFA5-B0D18D0D3A0E}" srcOrd="0" destOrd="1" presId="urn:microsoft.com/office/officeart/2005/8/layout/hProcess10"/>
    <dgm:cxn modelId="{19779040-D09B-42DE-812B-42E176A635B0}" type="presOf" srcId="{78E42B8C-F470-4573-8B22-799A372AE1FF}" destId="{B2A9C56B-6DD5-4DC9-820D-08821273698B}" srcOrd="0" destOrd="0" presId="urn:microsoft.com/office/officeart/2005/8/layout/hProcess10"/>
    <dgm:cxn modelId="{88888F5C-4EF4-4BC1-9E57-BB615D8F5523}" type="presOf" srcId="{579D7BE4-1981-4443-B9D0-EAB8422A1A60}" destId="{B940162B-4C79-4EFD-A912-4C76E0951EE6}" srcOrd="1" destOrd="0" presId="urn:microsoft.com/office/officeart/2005/8/layout/hProcess10"/>
    <dgm:cxn modelId="{8359015E-07E3-48C0-8EE5-A4E62A81E807}" srcId="{932660A3-1430-497D-803A-605DD8485105}" destId="{3F8C2835-F4A4-40FC-AE56-20731716D11D}" srcOrd="0" destOrd="0" parTransId="{09AA59F0-A75C-46BD-9915-D8D0750B113B}" sibTransId="{A3286B75-8CC3-4C6E-AED4-36B90EB99939}"/>
    <dgm:cxn modelId="{D197F462-6D1F-4F21-916C-5EB01DC22725}" type="presOf" srcId="{CDFB41A4-3288-4B5E-BD3D-E0F46E36556E}" destId="{A9312D3C-CC8C-47C1-AFA5-B0D18D0D3A0E}" srcOrd="0" destOrd="2" presId="urn:microsoft.com/office/officeart/2005/8/layout/hProcess10"/>
    <dgm:cxn modelId="{1AF55B4C-AAE4-454D-AA08-9035DB91911A}" type="presOf" srcId="{579D7BE4-1981-4443-B9D0-EAB8422A1A60}" destId="{35B9345B-4B80-4095-A31D-AE74E555D021}" srcOrd="0" destOrd="0" presId="urn:microsoft.com/office/officeart/2005/8/layout/hProcess10"/>
    <dgm:cxn modelId="{91331452-15E8-4B96-B0E6-DABF39F4F08E}" type="presOf" srcId="{0F8B60B8-BD99-476B-98CA-041848F4A2E1}" destId="{C4552642-04AE-45D9-93C6-77EB84BA0A08}" srcOrd="0" destOrd="0" presId="urn:microsoft.com/office/officeart/2005/8/layout/hProcess10"/>
    <dgm:cxn modelId="{D044517F-7338-4C38-ADF7-3C04A793892E}" srcId="{932660A3-1430-497D-803A-605DD8485105}" destId="{EBD33571-E1CC-475A-BA81-30D09878F120}" srcOrd="1" destOrd="0" parTransId="{8321E0E6-C9DB-48A5-971C-373A5AD69F74}" sibTransId="{018614CB-FCEF-46F7-825B-5055DAA4DF24}"/>
    <dgm:cxn modelId="{F2951883-C813-4830-9F2D-0E14111E5D44}" type="presOf" srcId="{181A8116-6164-4456-A295-EBDBC517AB26}" destId="{A9312D3C-CC8C-47C1-AFA5-B0D18D0D3A0E}" srcOrd="0" destOrd="0" presId="urn:microsoft.com/office/officeart/2005/8/layout/hProcess10"/>
    <dgm:cxn modelId="{B6E70387-C334-467E-BFC4-744A6D344BFF}" srcId="{181A8116-6164-4456-A295-EBDBC517AB26}" destId="{CDFB41A4-3288-4B5E-BD3D-E0F46E36556E}" srcOrd="1" destOrd="0" parTransId="{45893801-C2A5-45CD-825B-25B205D44076}" sibTransId="{256C909C-0DAC-4D46-9507-6DAD69609EF3}"/>
    <dgm:cxn modelId="{E308F095-8209-4449-9F26-A66E8325CA1E}" srcId="{78E42B8C-F470-4573-8B22-799A372AE1FF}" destId="{1611D9A5-A805-47AD-81AB-47B5F25B1A09}" srcOrd="0" destOrd="0" parTransId="{66E20F7F-86C0-431C-B755-A9F43B318409}" sibTransId="{2EB2DF19-5A73-48D7-A9E5-BC70F594AEE8}"/>
    <dgm:cxn modelId="{66AEDC9A-EF29-4356-AD80-04998EFA4469}" type="presOf" srcId="{70EF08CB-6F94-4463-9586-C867190927BE}" destId="{52F7835C-E71A-4C92-BDF4-864EDE57C98B}" srcOrd="1" destOrd="0" presId="urn:microsoft.com/office/officeart/2005/8/layout/hProcess10"/>
    <dgm:cxn modelId="{BBAA9B9D-8CB7-4981-AC87-29CC8E0F630B}" type="presOf" srcId="{798C87DF-F5F8-48F3-88AF-8A2C093B4E54}" destId="{C4552642-04AE-45D9-93C6-77EB84BA0A08}" srcOrd="0" destOrd="1" presId="urn:microsoft.com/office/officeart/2005/8/layout/hProcess10"/>
    <dgm:cxn modelId="{76BF03A8-A2B8-49F6-8F6C-1405A97877EF}" type="presOf" srcId="{CB5F2B77-CAF4-42EE-AB7D-C3A4BFE3E2BF}" destId="{C4552642-04AE-45D9-93C6-77EB84BA0A08}" srcOrd="0" destOrd="2" presId="urn:microsoft.com/office/officeart/2005/8/layout/hProcess10"/>
    <dgm:cxn modelId="{FF61FCAA-57DF-4FF7-A242-E16CEA333FC9}" srcId="{0F8B60B8-BD99-476B-98CA-041848F4A2E1}" destId="{798C87DF-F5F8-48F3-88AF-8A2C093B4E54}" srcOrd="0" destOrd="0" parTransId="{8FE2FAF3-D003-4BCC-90EC-5793FC4FA05A}" sibTransId="{15F99BE3-B69D-4987-B6F4-F0E5292A934A}"/>
    <dgm:cxn modelId="{5A2C54AD-F125-4B90-BB72-B80C6C8CC9EC}" type="presOf" srcId="{3F8C2835-F4A4-40FC-AE56-20731716D11D}" destId="{1A6AEF69-B245-4921-81E4-6DD51B7778A7}" srcOrd="0" destOrd="1" presId="urn:microsoft.com/office/officeart/2005/8/layout/hProcess10"/>
    <dgm:cxn modelId="{DAB4F8B5-59D9-43C4-9128-1950B02A56D5}" srcId="{BD027541-F1BF-4405-A1CD-CB00D5BB7462}" destId="{78E42B8C-F470-4573-8B22-799A372AE1FF}" srcOrd="1" destOrd="0" parTransId="{C34A1250-E4A6-4C9D-AE0C-E5FABF377C20}" sibTransId="{70EF08CB-6F94-4463-9586-C867190927BE}"/>
    <dgm:cxn modelId="{B19664B9-5478-4F7A-B07D-697B9A4B35D0}" type="presOf" srcId="{BD027541-F1BF-4405-A1CD-CB00D5BB7462}" destId="{8B0D1845-3138-4385-944B-D20C7B048D46}" srcOrd="0" destOrd="0" presId="urn:microsoft.com/office/officeart/2005/8/layout/hProcess10"/>
    <dgm:cxn modelId="{232298BA-1A31-42F8-9736-F48F7144E970}" type="presOf" srcId="{70EF08CB-6F94-4463-9586-C867190927BE}" destId="{B723BF8D-B94C-47EF-82F2-D8D249499C63}" srcOrd="0" destOrd="0" presId="urn:microsoft.com/office/officeart/2005/8/layout/hProcess10"/>
    <dgm:cxn modelId="{7C7F97C4-E6C0-42CB-A9CA-A005D32ADA1F}" srcId="{BD027541-F1BF-4405-A1CD-CB00D5BB7462}" destId="{0F8B60B8-BD99-476B-98CA-041848F4A2E1}" srcOrd="0" destOrd="0" parTransId="{BEB3DD67-AE17-48A7-88A2-54BFDF1B5C8E}" sibTransId="{579D7BE4-1981-4443-B9D0-EAB8422A1A60}"/>
    <dgm:cxn modelId="{06010CC6-4F41-4FBC-B85E-14F90221B16D}" type="presOf" srcId="{1611D9A5-A805-47AD-81AB-47B5F25B1A09}" destId="{B2A9C56B-6DD5-4DC9-820D-08821273698B}" srcOrd="0" destOrd="1" presId="urn:microsoft.com/office/officeart/2005/8/layout/hProcess10"/>
    <dgm:cxn modelId="{7D2269CF-0565-4631-BAE6-566BF08863AE}" srcId="{0F8B60B8-BD99-476B-98CA-041848F4A2E1}" destId="{CB5F2B77-CAF4-42EE-AB7D-C3A4BFE3E2BF}" srcOrd="1" destOrd="0" parTransId="{D9BB18DA-CF6E-44A1-A87F-BCF25E3B9C44}" sibTransId="{E42320B6-526C-457C-8161-8C2301105D3E}"/>
    <dgm:cxn modelId="{261033DC-1823-4A69-8437-7976AA56D450}" type="presOf" srcId="{63EE60A7-F644-462C-BBF6-E9E7D6716C76}" destId="{DA832FDD-59EF-4D45-9345-B3C19BBEE3B4}" srcOrd="0" destOrd="0" presId="urn:microsoft.com/office/officeart/2005/8/layout/hProcess10"/>
    <dgm:cxn modelId="{3FEF41E0-3BB3-4E4A-89D8-1417F3272DB2}" srcId="{181A8116-6164-4456-A295-EBDBC517AB26}" destId="{877B9CA5-2D33-4BD5-BC30-658A5244306B}" srcOrd="3" destOrd="0" parTransId="{904D4A16-FFEB-40F6-AF60-AB94EC63ED55}" sibTransId="{95992C56-BF15-4EEB-BE78-4C1BA1D8A980}"/>
    <dgm:cxn modelId="{A4D307E3-8223-4026-8ED0-6099A958F103}" type="presOf" srcId="{63EE60A7-F644-462C-BBF6-E9E7D6716C76}" destId="{AA65122A-5320-4837-9D44-4C8225EF9EDA}" srcOrd="1" destOrd="0" presId="urn:microsoft.com/office/officeart/2005/8/layout/hProcess10"/>
    <dgm:cxn modelId="{200ECAE5-71EF-469D-A369-60F48B563B1F}" type="presOf" srcId="{EBD33571-E1CC-475A-BA81-30D09878F120}" destId="{1A6AEF69-B245-4921-81E4-6DD51B7778A7}" srcOrd="0" destOrd="2" presId="urn:microsoft.com/office/officeart/2005/8/layout/hProcess10"/>
    <dgm:cxn modelId="{4DA256FA-333F-4614-AA12-7F97FEE0C1BC}" srcId="{0F8B60B8-BD99-476B-98CA-041848F4A2E1}" destId="{C6CD9E47-0861-4656-B5D4-9B412113DB86}" srcOrd="2" destOrd="0" parTransId="{1C3BABAE-9967-44ED-BB47-711EA2F85E9C}" sibTransId="{E9EA9C5E-7D66-436A-8056-BBBD87E5E93F}"/>
    <dgm:cxn modelId="{06558EFA-11C3-45DD-9007-30893F1DCEA8}" srcId="{BD027541-F1BF-4405-A1CD-CB00D5BB7462}" destId="{932660A3-1430-497D-803A-605DD8485105}" srcOrd="3" destOrd="0" parTransId="{71A9A6DB-7F20-4B7C-A87F-9D9871A4AB1E}" sibTransId="{9743E0F1-7759-4EE4-A2D1-A47906977DC5}"/>
    <dgm:cxn modelId="{14ABCBFF-A080-4E00-8FA6-D7049624CB33}" type="presOf" srcId="{877B9CA5-2D33-4BD5-BC30-658A5244306B}" destId="{A9312D3C-CC8C-47C1-AFA5-B0D18D0D3A0E}" srcOrd="0" destOrd="4" presId="urn:microsoft.com/office/officeart/2005/8/layout/hProcess10"/>
    <dgm:cxn modelId="{5F072A1C-A782-4ED5-A41D-0EFE272813C6}" type="presParOf" srcId="{8B0D1845-3138-4385-944B-D20C7B048D46}" destId="{4C295FC9-1237-4576-B2A0-99D01576FFF5}" srcOrd="0" destOrd="0" presId="urn:microsoft.com/office/officeart/2005/8/layout/hProcess10"/>
    <dgm:cxn modelId="{ECBCB4B9-7569-4E1D-9BFC-CFBA664AD382}" type="presParOf" srcId="{4C295FC9-1237-4576-B2A0-99D01576FFF5}" destId="{7C2B9804-E077-4FD9-B332-5F805010E43E}" srcOrd="0" destOrd="0" presId="urn:microsoft.com/office/officeart/2005/8/layout/hProcess10"/>
    <dgm:cxn modelId="{111B3905-AE46-4786-B30B-CCD0022B6EC3}" type="presParOf" srcId="{4C295FC9-1237-4576-B2A0-99D01576FFF5}" destId="{C4552642-04AE-45D9-93C6-77EB84BA0A08}" srcOrd="1" destOrd="0" presId="urn:microsoft.com/office/officeart/2005/8/layout/hProcess10"/>
    <dgm:cxn modelId="{DE1549D2-392D-4B29-8D90-34D71BA91B6B}" type="presParOf" srcId="{8B0D1845-3138-4385-944B-D20C7B048D46}" destId="{35B9345B-4B80-4095-A31D-AE74E555D021}" srcOrd="1" destOrd="0" presId="urn:microsoft.com/office/officeart/2005/8/layout/hProcess10"/>
    <dgm:cxn modelId="{D8C5E3EC-978C-4877-863F-905AE7D1C27A}" type="presParOf" srcId="{35B9345B-4B80-4095-A31D-AE74E555D021}" destId="{B940162B-4C79-4EFD-A912-4C76E0951EE6}" srcOrd="0" destOrd="0" presId="urn:microsoft.com/office/officeart/2005/8/layout/hProcess10"/>
    <dgm:cxn modelId="{0A33FCED-49B4-48ED-BFDC-6244C4B9A14F}" type="presParOf" srcId="{8B0D1845-3138-4385-944B-D20C7B048D46}" destId="{8DDF3738-603A-410F-942B-56B84A5F2938}" srcOrd="2" destOrd="0" presId="urn:microsoft.com/office/officeart/2005/8/layout/hProcess10"/>
    <dgm:cxn modelId="{3A9D49EE-60B4-447D-8AC6-4FACCE1A20BD}" type="presParOf" srcId="{8DDF3738-603A-410F-942B-56B84A5F2938}" destId="{FB18C37B-3442-418A-B020-3BAF6CF78EFA}" srcOrd="0" destOrd="0" presId="urn:microsoft.com/office/officeart/2005/8/layout/hProcess10"/>
    <dgm:cxn modelId="{C1A61C0F-53FB-406F-A5CD-8BF59A2981D3}" type="presParOf" srcId="{8DDF3738-603A-410F-942B-56B84A5F2938}" destId="{B2A9C56B-6DD5-4DC9-820D-08821273698B}" srcOrd="1" destOrd="0" presId="urn:microsoft.com/office/officeart/2005/8/layout/hProcess10"/>
    <dgm:cxn modelId="{EE530FEF-5999-4D91-AF83-16910880F7D0}" type="presParOf" srcId="{8B0D1845-3138-4385-944B-D20C7B048D46}" destId="{B723BF8D-B94C-47EF-82F2-D8D249499C63}" srcOrd="3" destOrd="0" presId="urn:microsoft.com/office/officeart/2005/8/layout/hProcess10"/>
    <dgm:cxn modelId="{5DDBF160-5788-45EE-AEB0-8B973B6E060D}" type="presParOf" srcId="{B723BF8D-B94C-47EF-82F2-D8D249499C63}" destId="{52F7835C-E71A-4C92-BDF4-864EDE57C98B}" srcOrd="0" destOrd="0" presId="urn:microsoft.com/office/officeart/2005/8/layout/hProcess10"/>
    <dgm:cxn modelId="{DD43A272-0813-4984-82C8-91B0C09690DE}" type="presParOf" srcId="{8B0D1845-3138-4385-944B-D20C7B048D46}" destId="{986CC338-CA69-4077-BD1E-A0AA6E395D7A}" srcOrd="4" destOrd="0" presId="urn:microsoft.com/office/officeart/2005/8/layout/hProcess10"/>
    <dgm:cxn modelId="{065B62F1-6539-4B1A-8278-52E7E3570770}" type="presParOf" srcId="{986CC338-CA69-4077-BD1E-A0AA6E395D7A}" destId="{2C83CAF0-E8B6-42B8-8089-DA53D01E7627}" srcOrd="0" destOrd="0" presId="urn:microsoft.com/office/officeart/2005/8/layout/hProcess10"/>
    <dgm:cxn modelId="{021A58D6-CED2-4EB9-A5A9-56043FAFA079}" type="presParOf" srcId="{986CC338-CA69-4077-BD1E-A0AA6E395D7A}" destId="{A9312D3C-CC8C-47C1-AFA5-B0D18D0D3A0E}" srcOrd="1" destOrd="0" presId="urn:microsoft.com/office/officeart/2005/8/layout/hProcess10"/>
    <dgm:cxn modelId="{3044BB21-6C9B-4DEF-B9CB-E98C1791F185}" type="presParOf" srcId="{8B0D1845-3138-4385-944B-D20C7B048D46}" destId="{DA832FDD-59EF-4D45-9345-B3C19BBEE3B4}" srcOrd="5" destOrd="0" presId="urn:microsoft.com/office/officeart/2005/8/layout/hProcess10"/>
    <dgm:cxn modelId="{C94E65E0-19E5-4594-9E42-99DD03A39E6B}" type="presParOf" srcId="{DA832FDD-59EF-4D45-9345-B3C19BBEE3B4}" destId="{AA65122A-5320-4837-9D44-4C8225EF9EDA}" srcOrd="0" destOrd="0" presId="urn:microsoft.com/office/officeart/2005/8/layout/hProcess10"/>
    <dgm:cxn modelId="{A3B3E996-7D9F-4922-9124-CCF44CE104B3}" type="presParOf" srcId="{8B0D1845-3138-4385-944B-D20C7B048D46}" destId="{096E1039-7C76-4DA2-A9AD-BAFE7D8749A8}" srcOrd="6" destOrd="0" presId="urn:microsoft.com/office/officeart/2005/8/layout/hProcess10"/>
    <dgm:cxn modelId="{E5AA73BC-7FF7-45FD-BEE0-77ECD1A1600A}" type="presParOf" srcId="{096E1039-7C76-4DA2-A9AD-BAFE7D8749A8}" destId="{49D303A3-CFFB-4BD1-8ABE-19FE133D4FCA}" srcOrd="0" destOrd="0" presId="urn:microsoft.com/office/officeart/2005/8/layout/hProcess10"/>
    <dgm:cxn modelId="{28691EA9-9845-489B-92DA-5919C125CF9D}" type="presParOf" srcId="{096E1039-7C76-4DA2-A9AD-BAFE7D8749A8}" destId="{1A6AEF69-B245-4921-81E4-6DD51B7778A7}"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B9804-E077-4FD9-B332-5F805010E43E}">
      <dsp:nvSpPr>
        <dsp:cNvPr id="0" name=""/>
        <dsp:cNvSpPr/>
      </dsp:nvSpPr>
      <dsp:spPr>
        <a:xfrm>
          <a:off x="5456" y="503238"/>
          <a:ext cx="1921037" cy="1921037"/>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9000" r="-9000"/>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552642-04AE-45D9-93C6-77EB84BA0A08}">
      <dsp:nvSpPr>
        <dsp:cNvPr id="0" name=""/>
        <dsp:cNvSpPr/>
      </dsp:nvSpPr>
      <dsp:spPr>
        <a:xfrm>
          <a:off x="308751" y="1582620"/>
          <a:ext cx="1921037" cy="2463441"/>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Sensor Setup</a:t>
          </a:r>
        </a:p>
        <a:p>
          <a:pPr marL="114300" lvl="1" indent="-114300" algn="l" defTabSz="622300">
            <a:lnSpc>
              <a:spcPct val="10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MQ-3 to detect alcohol vapour in breath.</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MAX 30102 to monitor heart and SpO2.</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GSR sensor to measure skin conductance.</a:t>
          </a:r>
        </a:p>
      </dsp:txBody>
      <dsp:txXfrm>
        <a:off x="365016" y="1638885"/>
        <a:ext cx="1808507" cy="2350911"/>
      </dsp:txXfrm>
    </dsp:sp>
    <dsp:sp modelId="{35B9345B-4B80-4095-A31D-AE74E555D021}">
      <dsp:nvSpPr>
        <dsp:cNvPr id="0" name=""/>
        <dsp:cNvSpPr/>
      </dsp:nvSpPr>
      <dsp:spPr>
        <a:xfrm rot="47616">
          <a:off x="2296510" y="1253950"/>
          <a:ext cx="370069" cy="46159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2296515" y="1345501"/>
        <a:ext cx="259048" cy="276958"/>
      </dsp:txXfrm>
    </dsp:sp>
    <dsp:sp modelId="{FB18C37B-3442-418A-B020-3BAF6CF78EFA}">
      <dsp:nvSpPr>
        <dsp:cNvPr id="0" name=""/>
        <dsp:cNvSpPr/>
      </dsp:nvSpPr>
      <dsp:spPr>
        <a:xfrm>
          <a:off x="2983734" y="544492"/>
          <a:ext cx="1921037" cy="1921037"/>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A9C56B-6DD5-4DC9-820D-08821273698B}">
      <dsp:nvSpPr>
        <dsp:cNvPr id="0" name=""/>
        <dsp:cNvSpPr/>
      </dsp:nvSpPr>
      <dsp:spPr>
        <a:xfrm>
          <a:off x="3340741" y="1706383"/>
          <a:ext cx="1921037" cy="229842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Data Collection</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Simulate both “sober” and “intoxicated” conditions using realistic values.</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Generate a dataset containing multiple readings labelled as “Fit” or “ Unfit”.</a:t>
          </a:r>
        </a:p>
      </dsp:txBody>
      <dsp:txXfrm>
        <a:off x="3397006" y="1762648"/>
        <a:ext cx="1808507" cy="2185894"/>
      </dsp:txXfrm>
    </dsp:sp>
    <dsp:sp modelId="{B723BF8D-B94C-47EF-82F2-D8D249499C63}">
      <dsp:nvSpPr>
        <dsp:cNvPr id="0" name=""/>
        <dsp:cNvSpPr/>
      </dsp:nvSpPr>
      <dsp:spPr>
        <a:xfrm rot="21568564">
          <a:off x="5274798" y="1260352"/>
          <a:ext cx="370049" cy="46159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5274800" y="1353180"/>
        <a:ext cx="259034" cy="276958"/>
      </dsp:txXfrm>
    </dsp:sp>
    <dsp:sp modelId="{2C83CAF0-E8B6-42B8-8089-DA53D01E7627}">
      <dsp:nvSpPr>
        <dsp:cNvPr id="0" name=""/>
        <dsp:cNvSpPr/>
      </dsp:nvSpPr>
      <dsp:spPr>
        <a:xfrm>
          <a:off x="5962012" y="517256"/>
          <a:ext cx="1921037" cy="1921037"/>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312D3C-CC8C-47C1-AFA5-B0D18D0D3A0E}">
      <dsp:nvSpPr>
        <dsp:cNvPr id="0" name=""/>
        <dsp:cNvSpPr/>
      </dsp:nvSpPr>
      <dsp:spPr>
        <a:xfrm>
          <a:off x="6273269" y="1813207"/>
          <a:ext cx="1905111" cy="2407366"/>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AI Model Training</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Features: Alcohol level,GSR,HR,SpO2,reaction time.</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Labels: 0 (Fit), 1 (Unfit)</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Train using a shallow neural network.</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Evaluate wit accuracy, confusion matrix</a:t>
          </a:r>
        </a:p>
      </dsp:txBody>
      <dsp:txXfrm>
        <a:off x="6329068" y="1869006"/>
        <a:ext cx="1793513" cy="2295768"/>
      </dsp:txXfrm>
    </dsp:sp>
    <dsp:sp modelId="{DA832FDD-59EF-4D45-9345-B3C19BBEE3B4}">
      <dsp:nvSpPr>
        <dsp:cNvPr id="0" name=""/>
        <dsp:cNvSpPr/>
      </dsp:nvSpPr>
      <dsp:spPr>
        <a:xfrm rot="140637">
          <a:off x="8250142" y="1308841"/>
          <a:ext cx="367554" cy="46159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8250188" y="1398906"/>
        <a:ext cx="257288" cy="276958"/>
      </dsp:txXfrm>
    </dsp:sp>
    <dsp:sp modelId="{49D303A3-CFFB-4BD1-8ABE-19FE133D4FCA}">
      <dsp:nvSpPr>
        <dsp:cNvPr id="0" name=""/>
        <dsp:cNvSpPr/>
      </dsp:nvSpPr>
      <dsp:spPr>
        <a:xfrm>
          <a:off x="8932327" y="638839"/>
          <a:ext cx="1921037" cy="1921037"/>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1000" r="-21000"/>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6AEF69-B245-4921-81E4-6DD51B7778A7}">
      <dsp:nvSpPr>
        <dsp:cNvPr id="0" name=""/>
        <dsp:cNvSpPr/>
      </dsp:nvSpPr>
      <dsp:spPr>
        <a:xfrm>
          <a:off x="9245054" y="1791461"/>
          <a:ext cx="1921037" cy="1921037"/>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Deployment</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Integrate train model into Microcontroller or Raspberry Pi</a:t>
          </a:r>
        </a:p>
        <a:p>
          <a:pPr marL="114300" lvl="1" indent="-114300" algn="l" defTabSz="622300">
            <a:lnSpc>
              <a:spcPct val="90000"/>
            </a:lnSpc>
            <a:spcBef>
              <a:spcPct val="0"/>
            </a:spcBef>
            <a:spcAft>
              <a:spcPct val="15000"/>
            </a:spcAft>
            <a:buChar char="•"/>
          </a:pPr>
          <a:r>
            <a:rPr lang="en-IN" sz="1400" kern="1200" dirty="0">
              <a:latin typeface="Times New Roman" panose="02020603050405020304" pitchFamily="18" charset="0"/>
              <a:cs typeface="Times New Roman" panose="02020603050405020304" pitchFamily="18" charset="0"/>
            </a:rPr>
            <a:t>Display results in real-time on OLED or mobile app.</a:t>
          </a:r>
        </a:p>
      </dsp:txBody>
      <dsp:txXfrm>
        <a:off x="9301319" y="1847726"/>
        <a:ext cx="1808507" cy="180850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F8155-00E5-746A-A37B-FC313AF2A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23B67F-25F8-DDB2-61FD-2368314D40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1CEB39-BAF6-BE3C-01C8-8DDCE98A6985}"/>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986B0978-FE71-9200-9000-0406E074EE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CAF577-E6E1-7416-1C45-3AA854500590}"/>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3612274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2483-888B-A3C3-C351-482C901D7F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B9C8F0-73F7-23F9-76EE-AB45650353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D4924-2295-2FE6-D70D-F4DC9610AF41}"/>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7364865B-3837-78B0-7318-EBB9E0228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73900F-C6D1-3349-2609-5F7899F468AB}"/>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193801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EDF11-7EF0-D8B2-52C0-69137B8C45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6302FB-AE2B-A57F-4BC1-401BFD84AC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08160B-74C6-66A0-D80A-CE98B675416D}"/>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1B61E08F-00F9-EB1B-CE47-4AF05F0A30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4952D0-75E1-A4D7-8B7F-AB62903BFD99}"/>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395948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30B30-68AE-48B6-C245-50083E8A2F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904DFC-4B2A-E8B9-AAD9-10405C76EC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BA4226-22C4-B571-8530-715A8D7DCA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C2B251-443D-4768-DDCD-42878FF454F0}"/>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6" name="Footer Placeholder 5">
            <a:extLst>
              <a:ext uri="{FF2B5EF4-FFF2-40B4-BE49-F238E27FC236}">
                <a16:creationId xmlns:a16="http://schemas.microsoft.com/office/drawing/2014/main" id="{67392260-7226-9FF8-9560-FD25101135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4F19C5-2057-8C7D-6C4C-E91B5E6EF282}"/>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20399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BA6C-E2F1-DC91-EDF3-694DF62D10A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82C56F-1B59-1E8B-9486-59502DAE60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061E76-A1FB-AB2F-6767-645A64920A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12AC5D-3ACA-90AD-EF2F-350E4C4D63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CE0794-A876-0AD1-F2EA-E519227768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F0B923-D4C0-D92F-D7EC-F0B165B7B33E}"/>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8" name="Footer Placeholder 7">
            <a:extLst>
              <a:ext uri="{FF2B5EF4-FFF2-40B4-BE49-F238E27FC236}">
                <a16:creationId xmlns:a16="http://schemas.microsoft.com/office/drawing/2014/main" id="{01106246-FAC4-8F62-5452-EF3B240059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4965B7-E82A-F93E-BBAE-8EC4FD09B23C}"/>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3245793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3657-AF1B-2DEC-2238-C8B2139422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7B3A6D-D78F-35F6-12A7-065BE06FD44A}"/>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4" name="Footer Placeholder 3">
            <a:extLst>
              <a:ext uri="{FF2B5EF4-FFF2-40B4-BE49-F238E27FC236}">
                <a16:creationId xmlns:a16="http://schemas.microsoft.com/office/drawing/2014/main" id="{D0623055-7EF6-A5C2-65BB-EE2CD3BD3D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53FECA-D41A-F45C-A8A6-87A39079C57C}"/>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1727008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1980E-B25E-473C-E898-87B27F38DDE6}"/>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3" name="Footer Placeholder 2">
            <a:extLst>
              <a:ext uri="{FF2B5EF4-FFF2-40B4-BE49-F238E27FC236}">
                <a16:creationId xmlns:a16="http://schemas.microsoft.com/office/drawing/2014/main" id="{071A8927-39BE-02DF-4ED8-2A50D874B4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92343A-7827-8872-E74B-D5D8028B2282}"/>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1578194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374C5-D81F-3363-60A9-9CE535EEDA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167E7B-3424-ADF3-3BAD-03144E511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14B927-18AC-F6BF-088C-BF3398678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466328-9B14-594E-FCBA-4EE31557AE13}"/>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6" name="Footer Placeholder 5">
            <a:extLst>
              <a:ext uri="{FF2B5EF4-FFF2-40B4-BE49-F238E27FC236}">
                <a16:creationId xmlns:a16="http://schemas.microsoft.com/office/drawing/2014/main" id="{9694F662-7A10-48AA-6579-422C519FE4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F63E1E-DB9C-9ED7-463B-8E78D2AD4384}"/>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3645678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6FEB-3C5B-9AFD-C534-F696DDC10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AF9B61-07F6-41E2-76C7-EEA2A2BFD5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690CA3-08A9-917F-D27E-594F7F084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E42EE2-1A7B-6A32-7A92-9835CA23FEF6}"/>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6" name="Footer Placeholder 5">
            <a:extLst>
              <a:ext uri="{FF2B5EF4-FFF2-40B4-BE49-F238E27FC236}">
                <a16:creationId xmlns:a16="http://schemas.microsoft.com/office/drawing/2014/main" id="{7798AFFA-909D-D91C-3D4A-F7BA653DA5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B939BE-E1E5-21F8-D2C2-AC556D640467}"/>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1837280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F8F9-0C79-A60F-87BA-3D83A20AC0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784712-7CBC-2219-142E-EC58D46518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48F6E1-5218-4D16-77BC-51B14FBE44AB}"/>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9F6F7F88-CE23-1F2F-ABAD-8E6263E883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C72F2-EAB3-3FCD-AD3E-7C83CBD78294}"/>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26927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B2AC13-A327-6C20-9C95-B059DCFBC7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B0B498-E8C7-8CDB-944F-3208953919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5E109-C59A-3C47-79A7-073B067DA017}"/>
              </a:ext>
            </a:extLst>
          </p:cNvPr>
          <p:cNvSpPr>
            <a:spLocks noGrp="1"/>
          </p:cNvSpPr>
          <p:nvPr>
            <p:ph type="dt" sz="half" idx="10"/>
          </p:nvPr>
        </p:nvSpPr>
        <p:spPr/>
        <p:txBody>
          <a:body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06AE3095-1AE8-1FE6-2B72-6F115719EC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0086AD-30EB-24FB-DB31-2BE8CE7A73AF}"/>
              </a:ext>
            </a:extLst>
          </p:cNvPr>
          <p:cNvSpPr>
            <a:spLocks noGrp="1"/>
          </p:cNvSpPr>
          <p:nvPr>
            <p:ph type="sldNum" sz="quarter" idx="12"/>
          </p:nvPr>
        </p:nvSpPr>
        <p:spPr/>
        <p:txBody>
          <a:bodyPr/>
          <a:lstStyle/>
          <a:p>
            <a:fld id="{AB46E148-215D-4A57-8F0F-F6DCECEB1A9F}" type="slidenum">
              <a:rPr lang="en-IN" smtClean="0"/>
              <a:t>‹#›</a:t>
            </a:fld>
            <a:endParaRPr lang="en-IN"/>
          </a:p>
        </p:txBody>
      </p:sp>
    </p:spTree>
    <p:extLst>
      <p:ext uri="{BB962C8B-B14F-4D97-AF65-F5344CB8AC3E}">
        <p14:creationId xmlns:p14="http://schemas.microsoft.com/office/powerpoint/2010/main" val="28690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1A65DC-3B13-0C00-250D-A5D17C732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7BE6FC-FDA8-F004-5BB1-447652C4AD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ED698B-8F8D-5BEA-DA45-ED94807AA6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048EDF-4594-45EA-B8AB-E2A8A9B23400}" type="datetimeFigureOut">
              <a:rPr lang="en-IN" smtClean="0"/>
              <a:t>16-06-2025</a:t>
            </a:fld>
            <a:endParaRPr lang="en-IN"/>
          </a:p>
        </p:txBody>
      </p:sp>
      <p:sp>
        <p:nvSpPr>
          <p:cNvPr id="5" name="Footer Placeholder 4">
            <a:extLst>
              <a:ext uri="{FF2B5EF4-FFF2-40B4-BE49-F238E27FC236}">
                <a16:creationId xmlns:a16="http://schemas.microsoft.com/office/drawing/2014/main" id="{8E48F2F5-6793-E265-7819-983023EA52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651BF49-8AF6-5221-F3A3-7554151956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46E148-215D-4A57-8F0F-F6DCECEB1A9F}" type="slidenum">
              <a:rPr lang="en-IN" smtClean="0"/>
              <a:t>‹#›</a:t>
            </a:fld>
            <a:endParaRPr lang="en-IN"/>
          </a:p>
        </p:txBody>
      </p:sp>
    </p:spTree>
    <p:extLst>
      <p:ext uri="{BB962C8B-B14F-4D97-AF65-F5344CB8AC3E}">
        <p14:creationId xmlns:p14="http://schemas.microsoft.com/office/powerpoint/2010/main" val="193973428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18448B8-0152-9A4D-EDA7-8D1B632A4F24}"/>
              </a:ext>
            </a:extLst>
          </p:cNvPr>
          <p:cNvSpPr>
            <a:spLocks noGrp="1"/>
          </p:cNvSpPr>
          <p:nvPr>
            <p:ph type="subTitle" idx="1"/>
          </p:nvPr>
        </p:nvSpPr>
        <p:spPr>
          <a:xfrm>
            <a:off x="1300899" y="3297023"/>
            <a:ext cx="10218656" cy="3452569"/>
          </a:xfrm>
        </p:spPr>
        <p:txBody>
          <a:bodyPr>
            <a:normAutofit lnSpcReduction="10000"/>
          </a:bodyPr>
          <a:lstStyle/>
          <a:p>
            <a:endParaRPr lang="en-IN" dirty="0"/>
          </a:p>
          <a:p>
            <a:pPr algn="r"/>
            <a:endParaRPr lang="en-IN" dirty="0"/>
          </a:p>
          <a:p>
            <a:pPr algn="r"/>
            <a:endParaRPr lang="en-IN" dirty="0"/>
          </a:p>
          <a:p>
            <a:pPr algn="l"/>
            <a:r>
              <a:rPr lang="en-IN" dirty="0">
                <a:latin typeface="Times New Roman" panose="02020603050405020304" pitchFamily="18" charset="0"/>
                <a:cs typeface="Times New Roman" panose="02020603050405020304" pitchFamily="18" charset="0"/>
              </a:rPr>
              <a:t>By:</a:t>
            </a:r>
          </a:p>
          <a:p>
            <a:pPr algn="l"/>
            <a:r>
              <a:rPr lang="en-IN" dirty="0" err="1">
                <a:latin typeface="Times New Roman" panose="02020603050405020304" pitchFamily="18" charset="0"/>
                <a:cs typeface="Times New Roman" panose="02020603050405020304" pitchFamily="18" charset="0"/>
              </a:rPr>
              <a:t>K.Saketh</a:t>
            </a:r>
            <a:r>
              <a:rPr lang="en-IN" dirty="0">
                <a:latin typeface="Times New Roman" panose="02020603050405020304" pitchFamily="18" charset="0"/>
                <a:cs typeface="Times New Roman" panose="02020603050405020304" pitchFamily="18" charset="0"/>
              </a:rPr>
              <a:t> Sai Srikar(CSM)</a:t>
            </a:r>
          </a:p>
          <a:p>
            <a:pPr algn="l"/>
            <a:r>
              <a:rPr lang="en-IN" dirty="0" err="1">
                <a:latin typeface="Times New Roman" panose="02020603050405020304" pitchFamily="18" charset="0"/>
                <a:cs typeface="Times New Roman" panose="02020603050405020304" pitchFamily="18" charset="0"/>
              </a:rPr>
              <a:t>P.Rahul</a:t>
            </a:r>
            <a:r>
              <a:rPr lang="en-IN" dirty="0">
                <a:latin typeface="Times New Roman" panose="02020603050405020304" pitchFamily="18" charset="0"/>
                <a:cs typeface="Times New Roman" panose="02020603050405020304" pitchFamily="18" charset="0"/>
              </a:rPr>
              <a:t>(CSM) </a:t>
            </a:r>
          </a:p>
          <a:p>
            <a:pPr algn="l"/>
            <a:r>
              <a:rPr lang="en-IN" dirty="0">
                <a:latin typeface="Times New Roman" panose="02020603050405020304" pitchFamily="18" charset="0"/>
                <a:cs typeface="Times New Roman" panose="02020603050405020304" pitchFamily="18" charset="0"/>
              </a:rPr>
              <a:t>Dolphin Pilot(ECI)</a:t>
            </a:r>
          </a:p>
          <a:p>
            <a:pPr algn="l"/>
            <a:r>
              <a:rPr lang="en-IN" dirty="0" err="1">
                <a:latin typeface="Times New Roman" panose="02020603050405020304" pitchFamily="18" charset="0"/>
                <a:cs typeface="Times New Roman" panose="02020603050405020304" pitchFamily="18" charset="0"/>
              </a:rPr>
              <a:t>P.Ashmith</a:t>
            </a:r>
            <a:r>
              <a:rPr lang="en-IN" dirty="0">
                <a:latin typeface="Times New Roman" panose="02020603050405020304" pitchFamily="18" charset="0"/>
                <a:cs typeface="Times New Roman" panose="02020603050405020304" pitchFamily="18" charset="0"/>
              </a:rPr>
              <a:t> Nanda(CSM)</a:t>
            </a:r>
          </a:p>
          <a:p>
            <a:pPr algn="l"/>
            <a:endParaRPr lang="en-IN"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a:p>
            <a:pPr algn="l"/>
            <a:endParaRPr lang="en-IN" dirty="0"/>
          </a:p>
          <a:p>
            <a:pPr algn="l"/>
            <a:endParaRPr lang="en-IN" dirty="0"/>
          </a:p>
          <a:p>
            <a:pPr algn="l"/>
            <a:endParaRPr lang="en-IN" dirty="0"/>
          </a:p>
          <a:p>
            <a:endParaRPr lang="en-IN" dirty="0"/>
          </a:p>
        </p:txBody>
      </p:sp>
      <p:sp>
        <p:nvSpPr>
          <p:cNvPr id="4" name="Rectangle 1">
            <a:extLst>
              <a:ext uri="{FF2B5EF4-FFF2-40B4-BE49-F238E27FC236}">
                <a16:creationId xmlns:a16="http://schemas.microsoft.com/office/drawing/2014/main" id="{0F06E276-2C59-7E3E-703E-648F0432DE58}"/>
              </a:ext>
            </a:extLst>
          </p:cNvPr>
          <p:cNvSpPr>
            <a:spLocks noGrp="1" noChangeArrowheads="1"/>
          </p:cNvSpPr>
          <p:nvPr>
            <p:ph type="ctrTitle"/>
          </p:nvPr>
        </p:nvSpPr>
        <p:spPr bwMode="auto">
          <a:xfrm>
            <a:off x="1748671" y="1133863"/>
            <a:ext cx="7789683"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5400" b="1" dirty="0" err="1">
                <a:cs typeface="Times New Roman" panose="02020603050405020304" pitchFamily="18" charset="0"/>
              </a:rPr>
              <a:t>AIoT</a:t>
            </a:r>
            <a:r>
              <a:rPr lang="en-US" sz="5400" b="1" dirty="0">
                <a:cs typeface="Times New Roman" panose="02020603050405020304" pitchFamily="18" charset="0"/>
              </a:rPr>
              <a:t>-Based Mental Fitness Detection System</a:t>
            </a:r>
          </a:p>
        </p:txBody>
      </p:sp>
      <p:sp>
        <p:nvSpPr>
          <p:cNvPr id="2" name="TextBox 1">
            <a:extLst>
              <a:ext uri="{FF2B5EF4-FFF2-40B4-BE49-F238E27FC236}">
                <a16:creationId xmlns:a16="http://schemas.microsoft.com/office/drawing/2014/main" id="{E1D0E377-5D12-DE7F-7AA0-B6BE243BBC04}"/>
              </a:ext>
            </a:extLst>
          </p:cNvPr>
          <p:cNvSpPr txBox="1"/>
          <p:nvPr/>
        </p:nvSpPr>
        <p:spPr>
          <a:xfrm>
            <a:off x="7220932" y="4607808"/>
            <a:ext cx="4430598" cy="1200329"/>
          </a:xfrm>
          <a:prstGeom prst="rect">
            <a:avLst/>
          </a:prstGeom>
          <a:noFill/>
        </p:spPr>
        <p:txBody>
          <a:bodyPr wrap="square" rtlCol="0">
            <a:spAutoFit/>
          </a:bodyPr>
          <a:lstStyle/>
          <a:p>
            <a:pPr algn="ctr"/>
            <a:r>
              <a:rPr lang="en-IN" sz="2400" dirty="0"/>
              <a:t>Under The Guidance Of:</a:t>
            </a:r>
          </a:p>
          <a:p>
            <a:pPr algn="ctr"/>
            <a:r>
              <a:rPr lang="en-IN" sz="2400" dirty="0" err="1"/>
              <a:t>Prof.T.Kishore</a:t>
            </a:r>
            <a:r>
              <a:rPr lang="en-IN" sz="2400" dirty="0"/>
              <a:t> Kumar</a:t>
            </a:r>
          </a:p>
          <a:p>
            <a:pPr algn="ctr"/>
            <a:r>
              <a:rPr lang="en-IN" sz="2400" dirty="0"/>
              <a:t>Head CTL</a:t>
            </a:r>
          </a:p>
        </p:txBody>
      </p:sp>
    </p:spTree>
    <p:extLst>
      <p:ext uri="{BB962C8B-B14F-4D97-AF65-F5344CB8AC3E}">
        <p14:creationId xmlns:p14="http://schemas.microsoft.com/office/powerpoint/2010/main" val="2559435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D2C1-E1F3-BF46-4575-2E1264E54E74}"/>
              </a:ext>
            </a:extLst>
          </p:cNvPr>
          <p:cNvSpPr>
            <a:spLocks noGrp="1"/>
          </p:cNvSpPr>
          <p:nvPr>
            <p:ph type="title"/>
          </p:nvPr>
        </p:nvSpPr>
        <p:spPr>
          <a:xfrm>
            <a:off x="838200" y="681037"/>
            <a:ext cx="10515599" cy="1325563"/>
          </a:xfrm>
        </p:spPr>
        <p:txBody>
          <a:bodyPr>
            <a:normAutofit fontScale="90000"/>
          </a:bodyPr>
          <a:lstStyle/>
          <a:p>
            <a:r>
              <a:rPr lang="en-IN" sz="5000" dirty="0">
                <a:latin typeface="Times New Roman" panose="02020603050405020304" pitchFamily="18" charset="0"/>
                <a:cs typeface="Times New Roman" panose="02020603050405020304" pitchFamily="18" charset="0"/>
              </a:rPr>
              <a:t>Introduction</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8BF97B-D258-2FBC-CBB9-A688AE363CF9}"/>
              </a:ext>
            </a:extLst>
          </p:cNvPr>
          <p:cNvSpPr>
            <a:spLocks noGrp="1"/>
          </p:cNvSpPr>
          <p:nvPr>
            <p:ph idx="1"/>
          </p:nvPr>
        </p:nvSpPr>
        <p:spPr>
          <a:xfrm>
            <a:off x="838200" y="1527141"/>
            <a:ext cx="10515600" cy="4649821"/>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Cognitive and physical impairment resulting from the consumption of substances may have hazardous repercussions when performing activities that involve driving, operating heavy machinery, or arriving at significant decisions. Conventional methods of detection basically utilize measurement of blood alcohol concentration (BAC) using tools such as breathalyzers. Since personal tolerance varies from one individual to another, BAC is insufficient to pinpoint an individual's mental competence. This work proposes an </a:t>
            </a:r>
            <a:r>
              <a:rPr lang="en-US" sz="2400" dirty="0" err="1">
                <a:latin typeface="Times New Roman" panose="02020603050405020304" pitchFamily="18" charset="0"/>
                <a:cs typeface="Times New Roman" panose="02020603050405020304" pitchFamily="18" charset="0"/>
              </a:rPr>
              <a:t>AIoT</a:t>
            </a:r>
            <a:r>
              <a:rPr lang="en-US" sz="2400" dirty="0">
                <a:latin typeface="Times New Roman" panose="02020603050405020304" pitchFamily="18" charset="0"/>
                <a:cs typeface="Times New Roman" panose="02020603050405020304" pitchFamily="18" charset="0"/>
              </a:rPr>
              <a:t>-multi-sensor system that measures a set of physiological and cognitive parameters to decide whether an individual is fit or not under the influence.</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019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B3451-CA4B-C881-5644-C90A48782F09}"/>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F3D9E885-DF79-F0B0-26B6-517C76D6CD7D}"/>
              </a:ext>
            </a:extLst>
          </p:cNvPr>
          <p:cNvSpPr>
            <a:spLocks noGrp="1"/>
          </p:cNvSpPr>
          <p:nvPr>
            <p:ph idx="1"/>
          </p:nvPr>
        </p:nvSpPr>
        <p:spPr/>
        <p:txBody>
          <a:bodyPr>
            <a:normAutofit fontScale="85000" lnSpcReduction="10000"/>
          </a:bodyPr>
          <a:lstStyle/>
          <a:p>
            <a:pPr algn="just">
              <a:lnSpc>
                <a:spcPct val="160000"/>
              </a:lnSpc>
            </a:pPr>
            <a:r>
              <a:rPr lang="en-US" sz="2000" dirty="0">
                <a:latin typeface="Times New Roman" panose="02020603050405020304" pitchFamily="18" charset="0"/>
                <a:cs typeface="Times New Roman" panose="02020603050405020304" pitchFamily="18" charset="0"/>
              </a:rPr>
              <a:t>While researching alcohol detection systems, I found that most existing solutions focus solely on measuring blood alcohol concentration (BAC) using a single sensor, usually a breathalyzer. One study, titled </a:t>
            </a:r>
            <a:r>
              <a:rPr lang="en-US" sz="2000" i="1" dirty="0">
                <a:latin typeface="Times New Roman" panose="02020603050405020304" pitchFamily="18" charset="0"/>
                <a:cs typeface="Times New Roman" panose="02020603050405020304" pitchFamily="18" charset="0"/>
              </a:rPr>
              <a:t>“A Lightweight In-Vehicle Alcohol Detection Using Smart Sensing and Optimizable Shallow Neural Network”</a:t>
            </a:r>
            <a:r>
              <a:rPr lang="en-US" sz="2000" dirty="0">
                <a:latin typeface="Times New Roman" panose="02020603050405020304" pitchFamily="18" charset="0"/>
                <a:cs typeface="Times New Roman" panose="02020603050405020304" pitchFamily="18" charset="0"/>
              </a:rPr>
              <a:t>, used an MQ-3 sensor and a shallow neural network to classify intoxication but didn’t consider the person’s actual mental state. Another paper, </a:t>
            </a:r>
            <a:r>
              <a:rPr lang="en-US" sz="2000" i="1" dirty="0">
                <a:latin typeface="Times New Roman" panose="02020603050405020304" pitchFamily="18" charset="0"/>
                <a:cs typeface="Times New Roman" panose="02020603050405020304" pitchFamily="18" charset="0"/>
              </a:rPr>
              <a:t>“A Transdermal Alcohol Sensing and Machine Learning-Based Model”</a:t>
            </a:r>
            <a:r>
              <a:rPr lang="en-US" sz="2000" dirty="0">
                <a:latin typeface="Times New Roman" panose="02020603050405020304" pitchFamily="18" charset="0"/>
                <a:cs typeface="Times New Roman" panose="02020603050405020304" pitchFamily="18" charset="0"/>
              </a:rPr>
              <a:t>, explored skin-based alcohol detection and highlighted how personal alcohol tolerance varies.</a:t>
            </a:r>
          </a:p>
          <a:p>
            <a:pPr algn="just">
              <a:lnSpc>
                <a:spcPct val="160000"/>
              </a:lnSpc>
            </a:pPr>
            <a:r>
              <a:rPr lang="en-US" sz="2000" dirty="0">
                <a:latin typeface="Times New Roman" panose="02020603050405020304" pitchFamily="18" charset="0"/>
                <a:cs typeface="Times New Roman" panose="02020603050405020304" pitchFamily="18" charset="0"/>
              </a:rPr>
              <a:t>These studies made me realize a significant gap: most systems don’t evaluate the user’s mental or physiological fitness. They only report alcohol levels, which may not reflect actual impairment. This inspired me to develop a system that uses multiple sensors—like heart rate, SpO₂, GSR, and reaction time—along with AI to provide a more accurate, real-time assessment of mental fitness under alcohol influence.</a:t>
            </a:r>
          </a:p>
        </p:txBody>
      </p:sp>
    </p:spTree>
    <p:extLst>
      <p:ext uri="{BB962C8B-B14F-4D97-AF65-F5344CB8AC3E}">
        <p14:creationId xmlns:p14="http://schemas.microsoft.com/office/powerpoint/2010/main" val="442939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8C78-62DD-32D9-E0F0-696DCEE8A8FC}"/>
              </a:ext>
            </a:extLst>
          </p:cNvPr>
          <p:cNvSpPr>
            <a:spLocks noGrp="1"/>
          </p:cNvSpPr>
          <p:nvPr>
            <p:ph type="title"/>
          </p:nvPr>
        </p:nvSpPr>
        <p:spPr/>
        <p:txBody>
          <a:bodyPr>
            <a:normAutofit/>
          </a:bodyPr>
          <a:lstStyle/>
          <a:p>
            <a:pPr algn="just"/>
            <a:r>
              <a:rPr lang="en-IN" sz="4000" dirty="0">
                <a:latin typeface="Times New Roman" panose="02020603050405020304" pitchFamily="18" charset="0"/>
                <a:cs typeface="Times New Roman" panose="02020603050405020304" pitchFamily="18" charset="0"/>
              </a:rPr>
              <a:t>Problem Statement</a:t>
            </a:r>
            <a:endParaRPr lang="en-IN" sz="4000" dirty="0"/>
          </a:p>
        </p:txBody>
      </p:sp>
      <p:sp>
        <p:nvSpPr>
          <p:cNvPr id="3" name="Content Placeholder 2">
            <a:extLst>
              <a:ext uri="{FF2B5EF4-FFF2-40B4-BE49-F238E27FC236}">
                <a16:creationId xmlns:a16="http://schemas.microsoft.com/office/drawing/2014/main" id="{32C3212A-099E-2140-53F3-C3E026A60666}"/>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develop a real-time </a:t>
            </a:r>
            <a:r>
              <a:rPr lang="en-US" sz="2000" dirty="0" err="1">
                <a:latin typeface="Times New Roman" panose="02020603050405020304" pitchFamily="18" charset="0"/>
                <a:cs typeface="Times New Roman" panose="02020603050405020304" pitchFamily="18" charset="0"/>
              </a:rPr>
              <a:t>AIoT</a:t>
            </a:r>
            <a:r>
              <a:rPr lang="en-US" sz="2000">
                <a:latin typeface="Times New Roman" panose="02020603050405020304" pitchFamily="18" charset="0"/>
                <a:cs typeface="Times New Roman" panose="02020603050405020304" pitchFamily="18" charset="0"/>
              </a:rPr>
              <a:t>-based mental fitness detection system that integrates alcohol sensing and biomedical signal monitoring (heart rate, SpO₂, GSR, reaction time), using an ESP32 and machine learning model to accurately assess a person’s cognitive fitness under the influence of alcohol and other medical or psychological conditions like stress or anxiety.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4778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BC4A-B382-2422-9C6B-C65E9855AEDF}"/>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Novelty</a:t>
            </a:r>
          </a:p>
        </p:txBody>
      </p:sp>
      <p:sp>
        <p:nvSpPr>
          <p:cNvPr id="3" name="Content Placeholder 2">
            <a:extLst>
              <a:ext uri="{FF2B5EF4-FFF2-40B4-BE49-F238E27FC236}">
                <a16:creationId xmlns:a16="http://schemas.microsoft.com/office/drawing/2014/main" id="{C02598E2-DA8E-76F1-5FDB-8DF08F94E0EB}"/>
              </a:ext>
            </a:extLst>
          </p:cNvPr>
          <p:cNvSpPr>
            <a:spLocks noGrp="1"/>
          </p:cNvSpPr>
          <p:nvPr>
            <p:ph idx="1"/>
          </p:nvPr>
        </p:nvSpPr>
        <p:spPr/>
        <p:txBody>
          <a:bodyPr>
            <a:normAutofit/>
          </a:bodyPr>
          <a:lstStyle/>
          <a:p>
            <a:pPr algn="just">
              <a:lnSpc>
                <a:spcPct val="150000"/>
              </a:lnSpc>
            </a:pPr>
            <a:r>
              <a:rPr lang="en-US" sz="2000" dirty="0"/>
              <a:t>Uses multi-sensor fusion (Alcohol, GSR, Heart Rate, SpO₂, and Reaction Time). </a:t>
            </a:r>
          </a:p>
          <a:p>
            <a:pPr algn="just">
              <a:lnSpc>
                <a:spcPct val="150000"/>
              </a:lnSpc>
            </a:pPr>
            <a:r>
              <a:rPr lang="en-US" sz="2000" dirty="0"/>
              <a:t>Employs AI-based classification model to determine "Fit" or "Unfit" rather than just reporting alcohol level.</a:t>
            </a:r>
          </a:p>
          <a:p>
            <a:pPr algn="just">
              <a:lnSpc>
                <a:spcPct val="150000"/>
              </a:lnSpc>
            </a:pPr>
            <a:r>
              <a:rPr lang="en-US" sz="2000" dirty="0"/>
              <a:t> Focuses on mental fitness, not just intoxication. </a:t>
            </a:r>
          </a:p>
          <a:p>
            <a:pPr algn="just">
              <a:lnSpc>
                <a:spcPct val="150000"/>
              </a:lnSpc>
            </a:pPr>
            <a:r>
              <a:rPr lang="en-US" sz="2000" dirty="0"/>
              <a:t>Designed as a low-cost, portable prototype suitable for vehicles, industries, or personal use.</a:t>
            </a:r>
            <a:endParaRPr lang="en-IN" sz="2000" dirty="0"/>
          </a:p>
        </p:txBody>
      </p:sp>
    </p:spTree>
    <p:extLst>
      <p:ext uri="{BB962C8B-B14F-4D97-AF65-F5344CB8AC3E}">
        <p14:creationId xmlns:p14="http://schemas.microsoft.com/office/powerpoint/2010/main" val="1629683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FA1C1-49D1-B928-BA8B-C07B6D28E10B}"/>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Algorithm</a:t>
            </a:r>
          </a:p>
        </p:txBody>
      </p:sp>
      <p:pic>
        <p:nvPicPr>
          <p:cNvPr id="5" name="Content Placeholder 4">
            <a:extLst>
              <a:ext uri="{FF2B5EF4-FFF2-40B4-BE49-F238E27FC236}">
                <a16:creationId xmlns:a16="http://schemas.microsoft.com/office/drawing/2014/main" id="{F12FE7A5-5197-9A7A-4F7F-1096B5FE9B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0248" y="1313594"/>
            <a:ext cx="3451504" cy="5179281"/>
          </a:xfrm>
        </p:spPr>
      </p:pic>
    </p:spTree>
    <p:extLst>
      <p:ext uri="{BB962C8B-B14F-4D97-AF65-F5344CB8AC3E}">
        <p14:creationId xmlns:p14="http://schemas.microsoft.com/office/powerpoint/2010/main" val="216248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0A7F-BEC3-CE22-DE09-0BBA82D4963D}"/>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Block Diagram</a:t>
            </a:r>
          </a:p>
        </p:txBody>
      </p:sp>
      <p:pic>
        <p:nvPicPr>
          <p:cNvPr id="5" name="Content Placeholder 4">
            <a:extLst>
              <a:ext uri="{FF2B5EF4-FFF2-40B4-BE49-F238E27FC236}">
                <a16:creationId xmlns:a16="http://schemas.microsoft.com/office/drawing/2014/main" id="{9EE703CD-1CFE-84E2-EDB6-488FF85CA7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6102" y="1690688"/>
            <a:ext cx="9368567" cy="4238772"/>
          </a:xfrm>
        </p:spPr>
      </p:pic>
    </p:spTree>
    <p:extLst>
      <p:ext uri="{BB962C8B-B14F-4D97-AF65-F5344CB8AC3E}">
        <p14:creationId xmlns:p14="http://schemas.microsoft.com/office/powerpoint/2010/main" val="44398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B63ED-9F5E-31BF-2233-A967FE91F81E}"/>
              </a:ext>
            </a:extLst>
          </p:cNvPr>
          <p:cNvSpPr>
            <a:spLocks noGrp="1"/>
          </p:cNvSpPr>
          <p:nvPr>
            <p:ph type="title"/>
          </p:nvPr>
        </p:nvSpPr>
        <p:spPr/>
        <p:txBody>
          <a:bodyPr>
            <a:normAutofit/>
          </a:bodyPr>
          <a:lstStyle/>
          <a:p>
            <a:pPr algn="just"/>
            <a:r>
              <a:rPr lang="en-IN" sz="4000" dirty="0">
                <a:latin typeface="Times New Roman" panose="02020603050405020304" pitchFamily="18" charset="0"/>
                <a:cs typeface="Times New Roman" panose="02020603050405020304" pitchFamily="18" charset="0"/>
              </a:rPr>
              <a:t>Methodology</a:t>
            </a:r>
          </a:p>
        </p:txBody>
      </p:sp>
      <p:graphicFrame>
        <p:nvGraphicFramePr>
          <p:cNvPr id="20" name="Content Placeholder 19">
            <a:extLst>
              <a:ext uri="{FF2B5EF4-FFF2-40B4-BE49-F238E27FC236}">
                <a16:creationId xmlns:a16="http://schemas.microsoft.com/office/drawing/2014/main" id="{322259A3-DF98-4943-9189-03974DC72ED7}"/>
              </a:ext>
            </a:extLst>
          </p:cNvPr>
          <p:cNvGraphicFramePr>
            <a:graphicFrameLocks noGrp="1"/>
          </p:cNvGraphicFramePr>
          <p:nvPr>
            <p:ph idx="1"/>
            <p:extLst>
              <p:ext uri="{D42A27DB-BD31-4B8C-83A1-F6EECF244321}">
                <p14:modId xmlns:p14="http://schemas.microsoft.com/office/powerpoint/2010/main" val="809514773"/>
              </p:ext>
            </p:extLst>
          </p:nvPr>
        </p:nvGraphicFramePr>
        <p:xfrm>
          <a:off x="838200" y="1825625"/>
          <a:ext cx="11171548"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1248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3CDF-3E48-D18B-89F0-C9326007BC4D}"/>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Methodology</a:t>
            </a:r>
            <a:endParaRPr lang="en-IN" sz="4000" dirty="0"/>
          </a:p>
        </p:txBody>
      </p:sp>
      <p:sp>
        <p:nvSpPr>
          <p:cNvPr id="3" name="Content Placeholder 2">
            <a:extLst>
              <a:ext uri="{FF2B5EF4-FFF2-40B4-BE49-F238E27FC236}">
                <a16:creationId xmlns:a16="http://schemas.microsoft.com/office/drawing/2014/main" id="{3857F32B-A6C8-BE16-CC2D-25406ABD0A3C}"/>
              </a:ext>
            </a:extLst>
          </p:cNvPr>
          <p:cNvSpPr>
            <a:spLocks noGrp="1"/>
          </p:cNvSpPr>
          <p:nvPr>
            <p:ph idx="1"/>
          </p:nvPr>
        </p:nvSpPr>
        <p:spPr>
          <a:xfrm>
            <a:off x="838200" y="1508289"/>
            <a:ext cx="10587087" cy="5088281"/>
          </a:xfrm>
        </p:spPr>
        <p:txBody>
          <a:bodyPr>
            <a:normAutofit lnSpcReduction="10000"/>
          </a:bodyPr>
          <a:lstStyle/>
          <a:p>
            <a:pPr marL="0" indent="0">
              <a:buNone/>
            </a:pPr>
            <a:r>
              <a:rPr lang="en-IN" sz="2000" dirty="0"/>
              <a:t>Step 1: Sensor Setup</a:t>
            </a:r>
          </a:p>
          <a:p>
            <a:r>
              <a:rPr lang="en-IN" sz="2000" dirty="0"/>
              <a:t>MQ-3 to detect alcohol vapor in breath. MAX30102 to monitor heart rate and SpO₂. GSR sensor to measure skin conductance. </a:t>
            </a:r>
          </a:p>
          <a:p>
            <a:pPr marL="0" indent="0">
              <a:buNone/>
            </a:pPr>
            <a:r>
              <a:rPr lang="en-IN" sz="2000" dirty="0"/>
              <a:t>Step 2: Data Collection </a:t>
            </a:r>
          </a:p>
          <a:p>
            <a:r>
              <a:rPr lang="en-IN" sz="2000" dirty="0"/>
              <a:t>Simulate both "sober" and "intoxicated" conditions using realistic values. Generate a dataset containing multiple readings labelled as "Fit" or "Unfit". </a:t>
            </a:r>
          </a:p>
          <a:p>
            <a:pPr marL="0" indent="0">
              <a:buNone/>
            </a:pPr>
            <a:r>
              <a:rPr lang="en-IN" sz="2000" dirty="0"/>
              <a:t>Step 3: AI Model Training Features</a:t>
            </a:r>
          </a:p>
          <a:p>
            <a:r>
              <a:rPr lang="en-IN" sz="2000" dirty="0"/>
              <a:t> Alcohol level, GSR, HR, SpO₂, reaction time. </a:t>
            </a:r>
          </a:p>
          <a:p>
            <a:r>
              <a:rPr lang="en-IN" sz="2000" dirty="0"/>
              <a:t>Labels: 0 (Fit), 1 (Unfit).</a:t>
            </a:r>
          </a:p>
          <a:p>
            <a:r>
              <a:rPr lang="en-IN" sz="2000" dirty="0"/>
              <a:t>Train using a shallow neural network (or SVM/Random Forest for small devices). Evaluate with accuracy, confusion matrix. </a:t>
            </a:r>
          </a:p>
          <a:p>
            <a:pPr marL="0" indent="0">
              <a:buNone/>
            </a:pPr>
            <a:r>
              <a:rPr lang="en-IN" sz="2000" dirty="0"/>
              <a:t>Step 4: Deployment </a:t>
            </a:r>
          </a:p>
          <a:p>
            <a:r>
              <a:rPr lang="en-IN" sz="2000" dirty="0"/>
              <a:t>Integrate trained model into microcontroller or Raspberry Pi.</a:t>
            </a:r>
          </a:p>
          <a:p>
            <a:pPr marL="0" indent="0">
              <a:buNone/>
            </a:pPr>
            <a:r>
              <a:rPr lang="en-IN" sz="2000" dirty="0"/>
              <a:t>Display results in real-time on OLED or mobile app.</a:t>
            </a:r>
          </a:p>
        </p:txBody>
      </p:sp>
    </p:spTree>
    <p:extLst>
      <p:ext uri="{BB962C8B-B14F-4D97-AF65-F5344CB8AC3E}">
        <p14:creationId xmlns:p14="http://schemas.microsoft.com/office/powerpoint/2010/main" val="1210439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5680-F92C-ECE8-F002-C113F5CAF58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Components</a:t>
            </a:r>
          </a:p>
        </p:txBody>
      </p:sp>
      <p:graphicFrame>
        <p:nvGraphicFramePr>
          <p:cNvPr id="3" name="Table 2">
            <a:extLst>
              <a:ext uri="{FF2B5EF4-FFF2-40B4-BE49-F238E27FC236}">
                <a16:creationId xmlns:a16="http://schemas.microsoft.com/office/drawing/2014/main" id="{9FFFD79B-DE8D-0CA4-291D-15390521B210}"/>
              </a:ext>
            </a:extLst>
          </p:cNvPr>
          <p:cNvGraphicFramePr>
            <a:graphicFrameLocks noGrp="1"/>
          </p:cNvGraphicFramePr>
          <p:nvPr>
            <p:extLst>
              <p:ext uri="{D42A27DB-BD31-4B8C-83A1-F6EECF244321}">
                <p14:modId xmlns:p14="http://schemas.microsoft.com/office/powerpoint/2010/main" val="2124364428"/>
              </p:ext>
            </p:extLst>
          </p:nvPr>
        </p:nvGraphicFramePr>
        <p:xfrm>
          <a:off x="857839" y="1825624"/>
          <a:ext cx="8616099" cy="3243240"/>
        </p:xfrm>
        <a:graphic>
          <a:graphicData uri="http://schemas.openxmlformats.org/drawingml/2006/table">
            <a:tbl>
              <a:tblPr firstRow="1" bandRow="1">
                <a:tableStyleId>{5C22544A-7EE6-4342-B048-85BDC9FD1C3A}</a:tableStyleId>
              </a:tblPr>
              <a:tblGrid>
                <a:gridCol w="4298230">
                  <a:extLst>
                    <a:ext uri="{9D8B030D-6E8A-4147-A177-3AD203B41FA5}">
                      <a16:colId xmlns:a16="http://schemas.microsoft.com/office/drawing/2014/main" val="1665637413"/>
                    </a:ext>
                  </a:extLst>
                </a:gridCol>
                <a:gridCol w="4317869">
                  <a:extLst>
                    <a:ext uri="{9D8B030D-6E8A-4147-A177-3AD203B41FA5}">
                      <a16:colId xmlns:a16="http://schemas.microsoft.com/office/drawing/2014/main" val="374766358"/>
                    </a:ext>
                  </a:extLst>
                </a:gridCol>
              </a:tblGrid>
              <a:tr h="533256">
                <a:tc>
                  <a:txBody>
                    <a:bodyPr/>
                    <a:lstStyle/>
                    <a:p>
                      <a:r>
                        <a:rPr lang="en-IN" dirty="0"/>
                        <a:t>Component</a:t>
                      </a:r>
                    </a:p>
                  </a:txBody>
                  <a:tcPr/>
                </a:tc>
                <a:tc>
                  <a:txBody>
                    <a:bodyPr/>
                    <a:lstStyle/>
                    <a:p>
                      <a:r>
                        <a:rPr lang="en-IN" dirty="0"/>
                        <a:t>Purpose</a:t>
                      </a:r>
                    </a:p>
                  </a:txBody>
                  <a:tcPr/>
                </a:tc>
                <a:extLst>
                  <a:ext uri="{0D108BD9-81ED-4DB2-BD59-A6C34878D82A}">
                    <a16:rowId xmlns:a16="http://schemas.microsoft.com/office/drawing/2014/main" val="3150742323"/>
                  </a:ext>
                </a:extLst>
              </a:tr>
              <a:tr h="540663">
                <a:tc>
                  <a:txBody>
                    <a:bodyPr/>
                    <a:lstStyle/>
                    <a:p>
                      <a:r>
                        <a:rPr lang="en-IN" dirty="0"/>
                        <a:t>MQ-3 Sensor</a:t>
                      </a:r>
                    </a:p>
                  </a:txBody>
                  <a:tcPr/>
                </a:tc>
                <a:tc>
                  <a:txBody>
                    <a:bodyPr/>
                    <a:lstStyle/>
                    <a:p>
                      <a:r>
                        <a:rPr lang="en-IN" dirty="0"/>
                        <a:t>Alcohol level detection</a:t>
                      </a:r>
                    </a:p>
                  </a:txBody>
                  <a:tcPr/>
                </a:tc>
                <a:extLst>
                  <a:ext uri="{0D108BD9-81ED-4DB2-BD59-A6C34878D82A}">
                    <a16:rowId xmlns:a16="http://schemas.microsoft.com/office/drawing/2014/main" val="1543407402"/>
                  </a:ext>
                </a:extLst>
              </a:tr>
              <a:tr h="540663">
                <a:tc>
                  <a:txBody>
                    <a:bodyPr/>
                    <a:lstStyle/>
                    <a:p>
                      <a:r>
                        <a:rPr lang="en-IN" dirty="0"/>
                        <a:t>MAX30102</a:t>
                      </a:r>
                    </a:p>
                  </a:txBody>
                  <a:tcPr/>
                </a:tc>
                <a:tc>
                  <a:txBody>
                    <a:bodyPr/>
                    <a:lstStyle/>
                    <a:p>
                      <a:r>
                        <a:rPr lang="en-IN" dirty="0"/>
                        <a:t>Heart rate and oxygen level</a:t>
                      </a:r>
                    </a:p>
                  </a:txBody>
                  <a:tcPr/>
                </a:tc>
                <a:extLst>
                  <a:ext uri="{0D108BD9-81ED-4DB2-BD59-A6C34878D82A}">
                    <a16:rowId xmlns:a16="http://schemas.microsoft.com/office/drawing/2014/main" val="1292137781"/>
                  </a:ext>
                </a:extLst>
              </a:tr>
              <a:tr h="547332">
                <a:tc>
                  <a:txBody>
                    <a:bodyPr/>
                    <a:lstStyle/>
                    <a:p>
                      <a:r>
                        <a:rPr lang="en-IN" dirty="0"/>
                        <a:t>GSR Sensor</a:t>
                      </a:r>
                    </a:p>
                  </a:txBody>
                  <a:tcPr/>
                </a:tc>
                <a:tc>
                  <a:txBody>
                    <a:bodyPr/>
                    <a:lstStyle/>
                    <a:p>
                      <a:r>
                        <a:rPr lang="en-IN" dirty="0"/>
                        <a:t>Skin conductance(Stress)</a:t>
                      </a:r>
                    </a:p>
                  </a:txBody>
                  <a:tcPr/>
                </a:tc>
                <a:extLst>
                  <a:ext uri="{0D108BD9-81ED-4DB2-BD59-A6C34878D82A}">
                    <a16:rowId xmlns:a16="http://schemas.microsoft.com/office/drawing/2014/main" val="2206951782"/>
                  </a:ext>
                </a:extLst>
              </a:tr>
              <a:tr h="540663">
                <a:tc>
                  <a:txBody>
                    <a:bodyPr/>
                    <a:lstStyle/>
                    <a:p>
                      <a:r>
                        <a:rPr lang="en-IN" dirty="0"/>
                        <a:t>ESP32/ Raspberry Pi</a:t>
                      </a:r>
                    </a:p>
                  </a:txBody>
                  <a:tcPr/>
                </a:tc>
                <a:tc>
                  <a:txBody>
                    <a:bodyPr/>
                    <a:lstStyle/>
                    <a:p>
                      <a:r>
                        <a:rPr lang="en-IN" dirty="0"/>
                        <a:t>Microcontroller &amp; ML inference</a:t>
                      </a:r>
                    </a:p>
                  </a:txBody>
                  <a:tcPr/>
                </a:tc>
                <a:extLst>
                  <a:ext uri="{0D108BD9-81ED-4DB2-BD59-A6C34878D82A}">
                    <a16:rowId xmlns:a16="http://schemas.microsoft.com/office/drawing/2014/main" val="4031762947"/>
                  </a:ext>
                </a:extLst>
              </a:tr>
              <a:tr h="540663">
                <a:tc>
                  <a:txBody>
                    <a:bodyPr/>
                    <a:lstStyle/>
                    <a:p>
                      <a:r>
                        <a:rPr lang="en-IN" dirty="0"/>
                        <a:t>OLED Display / App</a:t>
                      </a:r>
                    </a:p>
                  </a:txBody>
                  <a:tcPr/>
                </a:tc>
                <a:tc>
                  <a:txBody>
                    <a:bodyPr/>
                    <a:lstStyle/>
                    <a:p>
                      <a:r>
                        <a:rPr lang="en-IN" dirty="0"/>
                        <a:t>Display result or alert</a:t>
                      </a:r>
                    </a:p>
                  </a:txBody>
                  <a:tcPr/>
                </a:tc>
                <a:extLst>
                  <a:ext uri="{0D108BD9-81ED-4DB2-BD59-A6C34878D82A}">
                    <a16:rowId xmlns:a16="http://schemas.microsoft.com/office/drawing/2014/main" val="4058045377"/>
                  </a:ext>
                </a:extLst>
              </a:tr>
            </a:tbl>
          </a:graphicData>
        </a:graphic>
      </p:graphicFrame>
    </p:spTree>
    <p:extLst>
      <p:ext uri="{BB962C8B-B14F-4D97-AF65-F5344CB8AC3E}">
        <p14:creationId xmlns:p14="http://schemas.microsoft.com/office/powerpoint/2010/main" val="2716517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616C1A4-6AD7-087D-C68A-FDDC3FF362A7}"/>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Evaluation and Observation</a:t>
            </a:r>
          </a:p>
        </p:txBody>
      </p:sp>
      <p:pic>
        <p:nvPicPr>
          <p:cNvPr id="11" name="Content Placeholder 10">
            <a:extLst>
              <a:ext uri="{FF2B5EF4-FFF2-40B4-BE49-F238E27FC236}">
                <a16:creationId xmlns:a16="http://schemas.microsoft.com/office/drawing/2014/main" id="{262B505E-E16F-902E-5708-AA46CD7C888D}"/>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838200" y="1922172"/>
            <a:ext cx="4256754" cy="3271997"/>
          </a:xfrm>
        </p:spPr>
      </p:pic>
      <p:sp>
        <p:nvSpPr>
          <p:cNvPr id="13" name="TextBox 12">
            <a:extLst>
              <a:ext uri="{FF2B5EF4-FFF2-40B4-BE49-F238E27FC236}">
                <a16:creationId xmlns:a16="http://schemas.microsoft.com/office/drawing/2014/main" id="{BB968B12-D1D0-AE74-0999-BDDCD0E7FB6C}"/>
              </a:ext>
            </a:extLst>
          </p:cNvPr>
          <p:cNvSpPr txBox="1"/>
          <p:nvPr/>
        </p:nvSpPr>
        <p:spPr>
          <a:xfrm>
            <a:off x="1063682" y="5323058"/>
            <a:ext cx="3424238" cy="477054"/>
          </a:xfrm>
          <a:prstGeom prst="rect">
            <a:avLst/>
          </a:prstGeom>
          <a:noFill/>
        </p:spPr>
        <p:txBody>
          <a:bodyPr wrap="square">
            <a:spAutoFit/>
          </a:bodyPr>
          <a:lstStyle/>
          <a:p>
            <a:pPr algn="ctr"/>
            <a:r>
              <a:rPr lang="en-US" sz="2500" dirty="0">
                <a:latin typeface="Times New Roman" panose="02020603050405020304" pitchFamily="18" charset="0"/>
                <a:cs typeface="Times New Roman" panose="02020603050405020304" pitchFamily="18" charset="0"/>
              </a:rPr>
              <a:t>Connectivity</a:t>
            </a:r>
          </a:p>
        </p:txBody>
      </p:sp>
      <p:pic>
        <p:nvPicPr>
          <p:cNvPr id="16" name="Picture 15">
            <a:extLst>
              <a:ext uri="{FF2B5EF4-FFF2-40B4-BE49-F238E27FC236}">
                <a16:creationId xmlns:a16="http://schemas.microsoft.com/office/drawing/2014/main" id="{B37771C1-E967-B73D-BE00-DE6280A0B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898" y="2416979"/>
            <a:ext cx="6158625" cy="2024042"/>
          </a:xfrm>
          <a:prstGeom prst="rect">
            <a:avLst/>
          </a:prstGeom>
        </p:spPr>
      </p:pic>
    </p:spTree>
    <p:extLst>
      <p:ext uri="{BB962C8B-B14F-4D97-AF65-F5344CB8AC3E}">
        <p14:creationId xmlns:p14="http://schemas.microsoft.com/office/powerpoint/2010/main" val="2753535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C127-5BC2-FA59-B1CF-9B262BEDB9D1}"/>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Testing And Results</a:t>
            </a:r>
          </a:p>
        </p:txBody>
      </p:sp>
      <p:pic>
        <p:nvPicPr>
          <p:cNvPr id="4" name="Picture 3">
            <a:extLst>
              <a:ext uri="{FF2B5EF4-FFF2-40B4-BE49-F238E27FC236}">
                <a16:creationId xmlns:a16="http://schemas.microsoft.com/office/drawing/2014/main" id="{5086436E-5695-2EC9-C2C5-F3C4D3D0D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474" y="1690688"/>
            <a:ext cx="3310183" cy="4061985"/>
          </a:xfrm>
          <a:prstGeom prst="rect">
            <a:avLst/>
          </a:prstGeom>
        </p:spPr>
      </p:pic>
      <p:pic>
        <p:nvPicPr>
          <p:cNvPr id="6" name="Picture 5">
            <a:extLst>
              <a:ext uri="{FF2B5EF4-FFF2-40B4-BE49-F238E27FC236}">
                <a16:creationId xmlns:a16="http://schemas.microsoft.com/office/drawing/2014/main" id="{193C673E-68EC-9794-DC3E-7834F00E57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8078" y="1984653"/>
            <a:ext cx="5505722" cy="2888693"/>
          </a:xfrm>
          <a:prstGeom prst="rect">
            <a:avLst/>
          </a:prstGeom>
        </p:spPr>
      </p:pic>
    </p:spTree>
    <p:extLst>
      <p:ext uri="{BB962C8B-B14F-4D97-AF65-F5344CB8AC3E}">
        <p14:creationId xmlns:p14="http://schemas.microsoft.com/office/powerpoint/2010/main" val="3444050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DC77-C0E1-9646-8228-C4229D25E6E3}"/>
              </a:ext>
            </a:extLst>
          </p:cNvPr>
          <p:cNvSpPr>
            <a:spLocks noGrp="1"/>
          </p:cNvSpPr>
          <p:nvPr>
            <p:ph type="title"/>
          </p:nvPr>
        </p:nvSpPr>
        <p:spPr/>
        <p:txBody>
          <a:bodyPr>
            <a:normAutofit/>
          </a:bodyPr>
          <a:lstStyle/>
          <a:p>
            <a:r>
              <a:rPr lang="en-IN" sz="4000" dirty="0" err="1">
                <a:latin typeface="Times New Roman" panose="02020603050405020304" pitchFamily="18" charset="0"/>
                <a:cs typeface="Times New Roman" panose="02020603050405020304" pitchFamily="18" charset="0"/>
              </a:rPr>
              <a:t>DashBoard</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915CA3-FFD3-9295-0C10-46DFE374F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074" y="1690688"/>
            <a:ext cx="9935851" cy="4266206"/>
          </a:xfrm>
          <a:prstGeom prst="rect">
            <a:avLst/>
          </a:prstGeom>
        </p:spPr>
      </p:pic>
    </p:spTree>
    <p:extLst>
      <p:ext uri="{BB962C8B-B14F-4D97-AF65-F5344CB8AC3E}">
        <p14:creationId xmlns:p14="http://schemas.microsoft.com/office/powerpoint/2010/main" val="13379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23B9-2179-91C9-92EB-94AE346C2CA5}"/>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71E5F1E2-6C17-F3DA-6561-04222315210D}"/>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Driver Monitoring Systems – Prevent driving under mental impairment. </a:t>
            </a:r>
          </a:p>
          <a:p>
            <a:pPr algn="just">
              <a:lnSpc>
                <a:spcPct val="150000"/>
              </a:lnSpc>
            </a:pPr>
            <a:r>
              <a:rPr lang="en-US" sz="2000" dirty="0">
                <a:latin typeface="Times New Roman" panose="02020603050405020304" pitchFamily="18" charset="0"/>
                <a:cs typeface="Times New Roman" panose="02020603050405020304" pitchFamily="18" charset="0"/>
              </a:rPr>
              <a:t>Industrial Safety Systems – Check workers mental fitness before operating machines. </a:t>
            </a:r>
          </a:p>
          <a:p>
            <a:pPr algn="just">
              <a:lnSpc>
                <a:spcPct val="150000"/>
              </a:lnSpc>
            </a:pPr>
            <a:r>
              <a:rPr lang="en-US" sz="2000" dirty="0">
                <a:latin typeface="Times New Roman" panose="02020603050405020304" pitchFamily="18" charset="0"/>
                <a:cs typeface="Times New Roman" panose="02020603050405020304" pitchFamily="18" charset="0"/>
              </a:rPr>
              <a:t>Healthcare – Monitor patient alertness and fitness.</a:t>
            </a:r>
          </a:p>
          <a:p>
            <a:pPr algn="just">
              <a:lnSpc>
                <a:spcPct val="150000"/>
              </a:lnSpc>
            </a:pPr>
            <a:r>
              <a:rPr lang="en-US" sz="2000" dirty="0">
                <a:latin typeface="Times New Roman" panose="02020603050405020304" pitchFamily="18" charset="0"/>
                <a:cs typeface="Times New Roman" panose="02020603050405020304" pitchFamily="18" charset="0"/>
              </a:rPr>
              <a:t> Personal Use – A home-based self-check kit for safety-conscious individuals. </a:t>
            </a:r>
          </a:p>
          <a:p>
            <a:pPr algn="just">
              <a:lnSpc>
                <a:spcPct val="150000"/>
              </a:lnSpc>
            </a:pPr>
            <a:r>
              <a:rPr lang="en-US" sz="2000" dirty="0">
                <a:latin typeface="Times New Roman" panose="02020603050405020304" pitchFamily="18" charset="0"/>
                <a:cs typeface="Times New Roman" panose="02020603050405020304" pitchFamily="18" charset="0"/>
              </a:rPr>
              <a:t>Defense and Military – Fit-for-duty checks in critical missions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3742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B2C18-36C8-A75C-C5A1-6D51F4DA052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24DA4D0-6778-8879-BCB7-FCABD38DCD7D}"/>
              </a:ext>
            </a:extLst>
          </p:cNvPr>
          <p:cNvSpPr>
            <a:spLocks noGrp="1"/>
          </p:cNvSpPr>
          <p:nvPr>
            <p:ph idx="1"/>
          </p:nvPr>
        </p:nvSpPr>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In a world where a single moment of impaired judgment can cost lives, this </a:t>
            </a:r>
            <a:r>
              <a:rPr lang="en-US" sz="2000" b="1" dirty="0" err="1">
                <a:latin typeface="Times New Roman" panose="02020603050405020304" pitchFamily="18" charset="0"/>
                <a:cs typeface="Times New Roman" panose="02020603050405020304" pitchFamily="18" charset="0"/>
              </a:rPr>
              <a:t>AIoT</a:t>
            </a:r>
            <a:r>
              <a:rPr lang="en-US" sz="2000" b="1" dirty="0">
                <a:latin typeface="Times New Roman" panose="02020603050405020304" pitchFamily="18" charset="0"/>
                <a:cs typeface="Times New Roman" panose="02020603050405020304" pitchFamily="18" charset="0"/>
              </a:rPr>
              <a:t>-based</a:t>
            </a:r>
            <a:r>
              <a:rPr lang="en-US" sz="2000" dirty="0">
                <a:latin typeface="Times New Roman" panose="02020603050405020304" pitchFamily="18" charset="0"/>
                <a:cs typeface="Times New Roman" panose="02020603050405020304" pitchFamily="18" charset="0"/>
              </a:rPr>
              <a:t> mental fitness detection system offers a novel and intelligent approach to evaluating an individual's cognitive and physiological state under the influence of alcohol. By integrating multiple sensors—such as </a:t>
            </a:r>
            <a:r>
              <a:rPr lang="en-US" sz="2000" b="1" dirty="0">
                <a:latin typeface="Times New Roman" panose="02020603050405020304" pitchFamily="18" charset="0"/>
                <a:cs typeface="Times New Roman" panose="02020603050405020304" pitchFamily="18" charset="0"/>
              </a:rPr>
              <a:t>alcohol, GSR, heart rate, SpO₂</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 reaction time</a:t>
            </a:r>
            <a:r>
              <a:rPr lang="en-US" sz="2000" dirty="0">
                <a:latin typeface="Times New Roman" panose="02020603050405020304" pitchFamily="18" charset="0"/>
                <a:cs typeface="Times New Roman" panose="02020603050405020304" pitchFamily="18" charset="0"/>
              </a:rPr>
              <a:t>—and utilizing machine learning algorithms, the system goes beyond traditional alcohol detection methods that rely solely on </a:t>
            </a:r>
            <a:r>
              <a:rPr lang="en-US" sz="2000" b="1" dirty="0">
                <a:latin typeface="Times New Roman" panose="02020603050405020304" pitchFamily="18" charset="0"/>
                <a:cs typeface="Times New Roman" panose="02020603050405020304" pitchFamily="18" charset="0"/>
              </a:rPr>
              <a:t>BAC</a:t>
            </a:r>
            <a:r>
              <a:rPr lang="en-US" sz="2000" dirty="0">
                <a:latin typeface="Times New Roman" panose="02020603050405020304" pitchFamily="18" charset="0"/>
                <a:cs typeface="Times New Roman" panose="02020603050405020304" pitchFamily="18" charset="0"/>
              </a:rPr>
              <a:t> levels. It provides a comprehensive assessment of mental fitness, taking into account individual variability in tolerance and response. The solution is low-cost, portable, and adaptable for various applications, including driver monitoring, industrial safety, healthcare, and military readiness. Overall, this system holds great potential in enhancing public safety and promoting responsible decision-making in alcohol-influenced situations.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164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BC7B-439D-5B19-EB72-81E43ADADD01}"/>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0789AD3B-9323-2110-8A29-52E8E5678480}"/>
              </a:ext>
            </a:extLst>
          </p:cNvPr>
          <p:cNvSpPr>
            <a:spLocks noGrp="1"/>
          </p:cNvSpPr>
          <p:nvPr>
            <p:ph idx="1"/>
          </p:nvPr>
        </p:nvSpPr>
        <p:spPr/>
        <p:txBody>
          <a:bodyPr/>
          <a:lstStyle/>
          <a:p>
            <a:pPr algn="just">
              <a:lnSpc>
                <a:spcPct val="150000"/>
              </a:lnSpc>
            </a:pPr>
            <a:r>
              <a:rPr lang="en-IN" sz="2000" dirty="0">
                <a:latin typeface="Times New Roman" panose="02020603050405020304" pitchFamily="18" charset="0"/>
                <a:cs typeface="Times New Roman" panose="02020603050405020304" pitchFamily="18" charset="0"/>
              </a:rPr>
              <a:t>"A Lightweight In-Vehicle Alcohol Detection Using Smart Sensing and Optimizable Shallow Neural Network" (MDPI Computers 2022) Used MQ-3 sensors and an SNN to classify intoxicated states. Focused only on alcohol levels.</a:t>
            </a:r>
          </a:p>
          <a:p>
            <a:pPr algn="just">
              <a:lnSpc>
                <a:spcPct val="150000"/>
              </a:lnSpc>
            </a:pPr>
            <a:r>
              <a:rPr lang="en-IN" sz="2000" dirty="0">
                <a:latin typeface="Times New Roman" panose="02020603050405020304" pitchFamily="18" charset="0"/>
                <a:cs typeface="Times New Roman" panose="02020603050405020304" pitchFamily="18" charset="0"/>
              </a:rPr>
              <a:t>"A Transdermal Alcohol Sensing and Machine Learning-Based Model to Predict Alcohol Intoxication Level" (IEEE Access) Used skin-based alcohol sensing + ML models. Highlighted variability in personal alcohol tolerance.</a:t>
            </a:r>
          </a:p>
          <a:p>
            <a:endParaRPr lang="en-IN" dirty="0"/>
          </a:p>
        </p:txBody>
      </p:sp>
    </p:spTree>
    <p:extLst>
      <p:ext uri="{BB962C8B-B14F-4D97-AF65-F5344CB8AC3E}">
        <p14:creationId xmlns:p14="http://schemas.microsoft.com/office/powerpoint/2010/main" val="1928197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ECB21E-DBC5-88F7-DCDA-85485FB3B604}"/>
              </a:ext>
            </a:extLst>
          </p:cNvPr>
          <p:cNvSpPr>
            <a:spLocks noGrp="1"/>
          </p:cNvSpPr>
          <p:nvPr>
            <p:ph type="title"/>
          </p:nvPr>
        </p:nvSpPr>
        <p:spPr>
          <a:xfrm>
            <a:off x="838200" y="2103437"/>
            <a:ext cx="10515600" cy="1325563"/>
          </a:xfrm>
        </p:spPr>
        <p:txBody>
          <a:bodyPr>
            <a:normAutofit fontScale="90000"/>
          </a:bodyPr>
          <a:lstStyle/>
          <a:p>
            <a:pPr algn="ctr"/>
            <a:r>
              <a:rPr lang="en-IN" sz="9600" b="1" dirty="0"/>
              <a:t>THANK YOU</a:t>
            </a:r>
          </a:p>
        </p:txBody>
      </p:sp>
    </p:spTree>
    <p:extLst>
      <p:ext uri="{BB962C8B-B14F-4D97-AF65-F5344CB8AC3E}">
        <p14:creationId xmlns:p14="http://schemas.microsoft.com/office/powerpoint/2010/main" val="361460465"/>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7639</TotalTime>
  <Words>1026</Words>
  <Application>Microsoft Office PowerPoint</Application>
  <PresentationFormat>Widescreen</PresentationFormat>
  <Paragraphs>87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AIoT-Based Mental Fitness Detection System</vt:lpstr>
      <vt:lpstr>Introduction </vt:lpstr>
      <vt:lpstr>Literature Survey</vt:lpstr>
      <vt:lpstr>Problem Statement</vt:lpstr>
      <vt:lpstr>Novelty</vt:lpstr>
      <vt:lpstr>Algorithm</vt:lpstr>
      <vt:lpstr>Block Diagram</vt:lpstr>
      <vt:lpstr>Methodology</vt:lpstr>
      <vt:lpstr>Methodology</vt:lpstr>
      <vt:lpstr>Components</vt:lpstr>
      <vt:lpstr>Evaluation and Observation</vt:lpstr>
      <vt:lpstr>Testing And Results</vt:lpstr>
      <vt:lpstr>DashBoard</vt:lpstr>
      <vt:lpstr>Applications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nimisha patha</dc:creator>
  <cp:lastModifiedBy>nimisha patha</cp:lastModifiedBy>
  <cp:revision>12</cp:revision>
  <dcterms:created xsi:type="dcterms:W3CDTF">2025-05-29T14:46:39Z</dcterms:created>
  <dcterms:modified xsi:type="dcterms:W3CDTF">2025-06-16T06:34:03Z</dcterms:modified>
</cp:coreProperties>
</file>